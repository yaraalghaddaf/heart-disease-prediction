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7"/>
  </p:notesMasterIdLst>
  <p:sldIdLst>
    <p:sldId id="256" r:id="rId2"/>
    <p:sldId id="258" r:id="rId3"/>
    <p:sldId id="263" r:id="rId4"/>
    <p:sldId id="269" r:id="rId5"/>
    <p:sldId id="274" r:id="rId6"/>
    <p:sldId id="259" r:id="rId7"/>
    <p:sldId id="266" r:id="rId8"/>
    <p:sldId id="271" r:id="rId9"/>
    <p:sldId id="275" r:id="rId10"/>
    <p:sldId id="257" r:id="rId11"/>
    <p:sldId id="280" r:id="rId12"/>
    <p:sldId id="265" r:id="rId13"/>
    <p:sldId id="264" r:id="rId14"/>
    <p:sldId id="268" r:id="rId15"/>
    <p:sldId id="267" r:id="rId16"/>
    <p:sldId id="260" r:id="rId17"/>
    <p:sldId id="262" r:id="rId18"/>
    <p:sldId id="307" r:id="rId19"/>
    <p:sldId id="273" r:id="rId20"/>
    <p:sldId id="308" r:id="rId21"/>
    <p:sldId id="277" r:id="rId22"/>
    <p:sldId id="284" r:id="rId23"/>
    <p:sldId id="309" r:id="rId24"/>
    <p:sldId id="278" r:id="rId25"/>
    <p:sldId id="285" r:id="rId26"/>
  </p:sldIdLst>
  <p:sldSz cx="9144000" cy="5143500" type="screen16x9"/>
  <p:notesSz cx="6858000" cy="9144000"/>
  <p:embeddedFontLst>
    <p:embeddedFont>
      <p:font typeface="Agency FB" panose="020B0503020202020204" pitchFamily="34" charset="0"/>
      <p:regular r:id="rId28"/>
      <p:bold r:id="rId29"/>
    </p:embeddedFont>
    <p:embeddedFont>
      <p:font typeface="Arial Narrow" panose="020B0606020202030204" pitchFamily="34" charset="0"/>
      <p:regular r:id="rId30"/>
      <p:bold r:id="rId31"/>
      <p:italic r:id="rId32"/>
      <p:boldItalic r:id="rId33"/>
    </p:embeddedFont>
    <p:embeddedFont>
      <p:font typeface="Arimo" panose="020B0604020202020204" charset="0"/>
      <p:regular r:id="rId34"/>
      <p:bold r:id="rId35"/>
      <p:italic r:id="rId36"/>
      <p:boldItalic r:id="rId37"/>
    </p:embeddedFont>
    <p:embeddedFont>
      <p:font typeface="Bahnschrift Condensed" panose="020B0502040204020203" pitchFamily="34" charset="0"/>
      <p:regular r:id="rId38"/>
      <p:bold r:id="rId39"/>
    </p:embeddedFont>
    <p:embeddedFont>
      <p:font typeface="Bahnschrift Light Condensed" panose="020B0502040204020203" pitchFamily="34" charset="0"/>
      <p:regular r:id="rId40"/>
    </p:embeddedFont>
    <p:embeddedFont>
      <p:font typeface="Bahnschrift SemiBold" panose="020B0502040204020203" pitchFamily="34" charset="0"/>
      <p:bold r:id="rId41"/>
    </p:embeddedFont>
    <p:embeddedFont>
      <p:font typeface="Bahnschrift SemiBold Condensed" panose="020B0502040204020203" pitchFamily="34" charset="0"/>
      <p:bold r:id="rId42"/>
    </p:embeddedFont>
    <p:embeddedFont>
      <p:font typeface="Bahnschrift SemiBold SemiConden" panose="020B0502040204020203" pitchFamily="34" charset="0"/>
      <p:bold r:id="rId43"/>
    </p:embeddedFont>
    <p:embeddedFont>
      <p:font typeface="Be Vietnam Pro" panose="020B0604020202020204" charset="0"/>
      <p:regular r:id="rId44"/>
      <p:bold r:id="rId45"/>
      <p:italic r:id="rId46"/>
      <p:boldItalic r:id="rId47"/>
    </p:embeddedFont>
    <p:embeddedFont>
      <p:font typeface="Open Sans" panose="020B060603050402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5F4A0A-5E61-4C02-876E-661CF7420189}">
  <a:tblStyle styleId="{B85F4A0A-5E61-4C02-876E-661CF74201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0f41e1924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0f41e1924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1bf8d60a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1bf8d60a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d1bf8d60a4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d1bf8d60a4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0f41e19245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0f41e19245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1bf8d60a4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1bf8d60a4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d1bf8d60a4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d1bf8d60a4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d1bf8d60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d1bf8d60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d1bf8d60a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d1bf8d60a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0f41e19245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0f41e19245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d1bf8d60a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d1bf8d60a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A1D6FCAF-9CCA-8326-50C8-B9B40F6A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d1bf8d60a4_0_26:notes">
            <a:extLst>
              <a:ext uri="{FF2B5EF4-FFF2-40B4-BE49-F238E27FC236}">
                <a16:creationId xmlns:a16="http://schemas.microsoft.com/office/drawing/2014/main" id="{FA96C550-BC55-DA7E-6B58-F7D0737FFC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d1bf8d60a4_0_26:notes">
            <a:extLst>
              <a:ext uri="{FF2B5EF4-FFF2-40B4-BE49-F238E27FC236}">
                <a16:creationId xmlns:a16="http://schemas.microsoft.com/office/drawing/2014/main" id="{98C2AD6A-7BCB-12D0-104C-9D7AA96E71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324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d1bf8d60a4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d1bf8d60a4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>
          <a:extLst>
            <a:ext uri="{FF2B5EF4-FFF2-40B4-BE49-F238E27FC236}">
              <a16:creationId xmlns:a16="http://schemas.microsoft.com/office/drawing/2014/main" id="{BE152473-82D8-ED1E-6981-D86DE8727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d1bf8d60a4_0_190:notes">
            <a:extLst>
              <a:ext uri="{FF2B5EF4-FFF2-40B4-BE49-F238E27FC236}">
                <a16:creationId xmlns:a16="http://schemas.microsoft.com/office/drawing/2014/main" id="{EDA8ECCA-5889-F2C3-4ED6-D77434D3F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d1bf8d60a4_0_190:notes">
            <a:extLst>
              <a:ext uri="{FF2B5EF4-FFF2-40B4-BE49-F238E27FC236}">
                <a16:creationId xmlns:a16="http://schemas.microsoft.com/office/drawing/2014/main" id="{50705C0D-CD43-A7CD-BA37-6768983A9E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852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d1bf8d60a4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d1bf8d60a4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0f41e19245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0f41e19245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>
          <a:extLst>
            <a:ext uri="{FF2B5EF4-FFF2-40B4-BE49-F238E27FC236}">
              <a16:creationId xmlns:a16="http://schemas.microsoft.com/office/drawing/2014/main" id="{6468B839-4769-94C0-89A6-4418D213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0f41e19245_0_589:notes">
            <a:extLst>
              <a:ext uri="{FF2B5EF4-FFF2-40B4-BE49-F238E27FC236}">
                <a16:creationId xmlns:a16="http://schemas.microsoft.com/office/drawing/2014/main" id="{8925FB4E-14B9-91FC-9C01-194A5E73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0f41e19245_0_589:notes">
            <a:extLst>
              <a:ext uri="{FF2B5EF4-FFF2-40B4-BE49-F238E27FC236}">
                <a16:creationId xmlns:a16="http://schemas.microsoft.com/office/drawing/2014/main" id="{3D4ACDBF-7C6D-7960-A08B-5593D9DE3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012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d1bf8d60a4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d1bf8d60a4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d1bf8d60a4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d1bf8d60a4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 amt="80000"/>
          </a:blip>
          <a:srcRect t="3727" r="17074" b="73696"/>
          <a:stretch/>
        </p:blipFill>
        <p:spPr>
          <a:xfrm rot="10800000">
            <a:off x="6787077" y="95377"/>
            <a:ext cx="2201198" cy="75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 amt="80000"/>
          </a:blip>
          <a:srcRect r="12188"/>
          <a:stretch/>
        </p:blipFill>
        <p:spPr>
          <a:xfrm>
            <a:off x="-883125" y="3779825"/>
            <a:ext cx="3838223" cy="2418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2" y="-7348"/>
            <a:ext cx="9143998" cy="5150848"/>
            <a:chOff x="2" y="-7348"/>
            <a:chExt cx="9143998" cy="5150848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5">
              <a:alphaModFix amt="80000"/>
            </a:blip>
            <a:srcRect l="19511" t="7914" r="14324" b="8689"/>
            <a:stretch/>
          </p:blipFill>
          <p:spPr>
            <a:xfrm>
              <a:off x="6722675" y="1643575"/>
              <a:ext cx="2421325" cy="3499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 rotWithShape="1">
            <a:blip r:embed="rId5">
              <a:alphaModFix amt="80000"/>
            </a:blip>
            <a:srcRect l="19511" t="7914" r="14324" b="8689"/>
            <a:stretch/>
          </p:blipFill>
          <p:spPr>
            <a:xfrm rot="10800000">
              <a:off x="2" y="-7348"/>
              <a:ext cx="2187823" cy="3162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199138" y="1372075"/>
            <a:ext cx="4745700" cy="17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199397" y="3209025"/>
            <a:ext cx="4745400" cy="4758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-5400000">
            <a:off x="5380448" y="1171824"/>
            <a:ext cx="5155502" cy="281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0800000">
            <a:off x="616425" y="4382099"/>
            <a:ext cx="1297027" cy="1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5">
            <a:alphaModFix amt="80000"/>
          </a:blip>
          <a:srcRect l="29937" t="7914" r="14324" b="8689"/>
          <a:stretch/>
        </p:blipFill>
        <p:spPr>
          <a:xfrm rot="-5400000">
            <a:off x="4247811" y="-637812"/>
            <a:ext cx="1782026" cy="305764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720000" y="2164525"/>
            <a:ext cx="5067600" cy="104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51950"/>
            <a:ext cx="1702500" cy="115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720000" y="3322700"/>
            <a:ext cx="5067600" cy="4755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5"/>
          <p:cNvGrpSpPr/>
          <p:nvPr/>
        </p:nvGrpSpPr>
        <p:grpSpPr>
          <a:xfrm>
            <a:off x="-203902" y="4066462"/>
            <a:ext cx="9408077" cy="2648276"/>
            <a:chOff x="-262602" y="3607287"/>
            <a:chExt cx="9408077" cy="2648276"/>
          </a:xfrm>
        </p:grpSpPr>
        <p:pic>
          <p:nvPicPr>
            <p:cNvPr id="39" name="Google Shape;39;p5"/>
            <p:cNvPicPr preferRelativeResize="0"/>
            <p:nvPr/>
          </p:nvPicPr>
          <p:blipFill rotWithShape="1">
            <a:blip r:embed="rId3">
              <a:alphaModFix amt="80000"/>
            </a:blip>
            <a:srcRect t="5820"/>
            <a:stretch/>
          </p:blipFill>
          <p:spPr>
            <a:xfrm flipH="1">
              <a:off x="-262602" y="3607287"/>
              <a:ext cx="5155502" cy="2648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5"/>
            <p:cNvPicPr preferRelativeResize="0"/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4892900" y="3788765"/>
              <a:ext cx="4252575" cy="23526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" name="Google Shape;41;p5"/>
          <p:cNvPicPr preferRelativeResize="0"/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-5400000">
            <a:off x="8085900" y="889499"/>
            <a:ext cx="1297027" cy="1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 rotWithShape="1">
          <a:blip r:embed="rId6">
            <a:alphaModFix amt="80000"/>
          </a:blip>
          <a:srcRect l="29937" t="7914" r="14324" b="8689"/>
          <a:stretch/>
        </p:blipFill>
        <p:spPr>
          <a:xfrm rot="5400000" flipH="1">
            <a:off x="256261" y="-989325"/>
            <a:ext cx="1782026" cy="30576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5056080" y="2376875"/>
            <a:ext cx="26481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1439750" y="2376875"/>
            <a:ext cx="26481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5056075" y="1944400"/>
            <a:ext cx="26481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1439750" y="1944400"/>
            <a:ext cx="26481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 amt="80000"/>
          </a:blip>
          <a:srcRect l="19511" t="7914" r="14324" b="8689"/>
          <a:stretch/>
        </p:blipFill>
        <p:spPr>
          <a:xfrm rot="10800000" flipH="1">
            <a:off x="7703960" y="-241950"/>
            <a:ext cx="1998976" cy="288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6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5400000" flipH="1">
            <a:off x="-287441" y="67724"/>
            <a:ext cx="1297027" cy="1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6"/>
          <p:cNvGrpSpPr/>
          <p:nvPr/>
        </p:nvGrpSpPr>
        <p:grpSpPr>
          <a:xfrm flipH="1">
            <a:off x="1" y="102165"/>
            <a:ext cx="9323675" cy="5138137"/>
            <a:chOff x="116609" y="102165"/>
            <a:chExt cx="9323675" cy="5138137"/>
          </a:xfrm>
        </p:grpSpPr>
        <p:pic>
          <p:nvPicPr>
            <p:cNvPr id="54" name="Google Shape;54;p6"/>
            <p:cNvPicPr preferRelativeResize="0"/>
            <p:nvPr/>
          </p:nvPicPr>
          <p:blipFill rotWithShape="1">
            <a:blip r:embed="rId5">
              <a:alphaModFix amt="80000"/>
            </a:blip>
            <a:srcRect t="3727" r="17074" b="73696"/>
            <a:stretch/>
          </p:blipFill>
          <p:spPr>
            <a:xfrm rot="5400000">
              <a:off x="7961802" y="824890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" name="Google Shape;55;p6"/>
            <p:cNvGrpSpPr/>
            <p:nvPr/>
          </p:nvGrpSpPr>
          <p:grpSpPr>
            <a:xfrm>
              <a:off x="116609" y="1092828"/>
              <a:ext cx="9323675" cy="4147473"/>
              <a:chOff x="116609" y="1092828"/>
              <a:chExt cx="9323675" cy="4147473"/>
            </a:xfrm>
          </p:grpSpPr>
          <p:pic>
            <p:nvPicPr>
              <p:cNvPr id="56" name="Google Shape;56;p6"/>
              <p:cNvPicPr preferRelativeResize="0"/>
              <p:nvPr/>
            </p:nvPicPr>
            <p:blipFill rotWithShape="1">
              <a:blip r:embed="rId5">
                <a:alphaModFix/>
              </a:blip>
              <a:srcRect t="3727" r="17074" b="73696"/>
              <a:stretch/>
            </p:blipFill>
            <p:spPr>
              <a:xfrm>
                <a:off x="7600309" y="4608575"/>
                <a:ext cx="1839976" cy="6317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" name="Google Shape;57;p6"/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3727" r="17074" b="73696"/>
              <a:stretch/>
            </p:blipFill>
            <p:spPr>
              <a:xfrm rot="5400013">
                <a:off x="-606112" y="1815553"/>
                <a:ext cx="2201198" cy="7557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8"/>
          <p:cNvGrpSpPr/>
          <p:nvPr/>
        </p:nvGrpSpPr>
        <p:grpSpPr>
          <a:xfrm>
            <a:off x="-203902" y="-1406938"/>
            <a:ext cx="9408077" cy="8016937"/>
            <a:chOff x="-203902" y="-1406938"/>
            <a:chExt cx="9408077" cy="8016937"/>
          </a:xfrm>
        </p:grpSpPr>
        <p:grpSp>
          <p:nvGrpSpPr>
            <p:cNvPr id="70" name="Google Shape;70;p8"/>
            <p:cNvGrpSpPr/>
            <p:nvPr/>
          </p:nvGrpSpPr>
          <p:grpSpPr>
            <a:xfrm rot="10800000">
              <a:off x="-203902" y="-1406938"/>
              <a:ext cx="9408077" cy="2648276"/>
              <a:chOff x="-262602" y="3702662"/>
              <a:chExt cx="9408077" cy="2648276"/>
            </a:xfrm>
          </p:grpSpPr>
          <p:pic>
            <p:nvPicPr>
              <p:cNvPr id="71" name="Google Shape;71;p8"/>
              <p:cNvPicPr preferRelativeResize="0"/>
              <p:nvPr/>
            </p:nvPicPr>
            <p:blipFill rotWithShape="1">
              <a:blip r:embed="rId3">
                <a:alphaModFix amt="80000"/>
              </a:blip>
              <a:srcRect t="5820"/>
              <a:stretch/>
            </p:blipFill>
            <p:spPr>
              <a:xfrm flipH="1">
                <a:off x="-262602" y="3702662"/>
                <a:ext cx="5155502" cy="2648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Google Shape;72;p8"/>
              <p:cNvPicPr preferRelativeResize="0"/>
              <p:nvPr/>
            </p:nvPicPr>
            <p:blipFill>
              <a:blip r:embed="rId4">
                <a:alphaModFix amt="80000"/>
              </a:blip>
              <a:stretch>
                <a:fillRect/>
              </a:stretch>
            </p:blipFill>
            <p:spPr>
              <a:xfrm>
                <a:off x="4892900" y="3788765"/>
                <a:ext cx="4252575" cy="23526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" name="Google Shape;73;p8"/>
            <p:cNvGrpSpPr/>
            <p:nvPr/>
          </p:nvGrpSpPr>
          <p:grpSpPr>
            <a:xfrm>
              <a:off x="-203902" y="3961712"/>
              <a:ext cx="9408077" cy="2648287"/>
              <a:chOff x="-262602" y="3842087"/>
              <a:chExt cx="9408077" cy="2648287"/>
            </a:xfrm>
          </p:grpSpPr>
          <p:pic>
            <p:nvPicPr>
              <p:cNvPr id="74" name="Google Shape;74;p8"/>
              <p:cNvPicPr preferRelativeResize="0"/>
              <p:nvPr/>
            </p:nvPicPr>
            <p:blipFill rotWithShape="1">
              <a:blip r:embed="rId3">
                <a:alphaModFix amt="80000"/>
              </a:blip>
              <a:srcRect t="5820"/>
              <a:stretch/>
            </p:blipFill>
            <p:spPr>
              <a:xfrm flipH="1">
                <a:off x="-262602" y="3842087"/>
                <a:ext cx="5155502" cy="2648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8"/>
              <p:cNvPicPr preferRelativeResize="0"/>
              <p:nvPr/>
            </p:nvPicPr>
            <p:blipFill>
              <a:blip r:embed="rId4">
                <a:alphaModFix amt="80000"/>
              </a:blip>
              <a:stretch>
                <a:fillRect/>
              </a:stretch>
            </p:blipFill>
            <p:spPr>
              <a:xfrm>
                <a:off x="4892900" y="4137740"/>
                <a:ext cx="4252575" cy="23526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6" name="Google Shape;76;p8"/>
          <p:cNvPicPr preferRelativeResize="0"/>
          <p:nvPr/>
        </p:nvPicPr>
        <p:blipFill rotWithShape="1">
          <a:blip r:embed="rId5">
            <a:alphaModFix amt="80000"/>
          </a:blip>
          <a:srcRect l="29937" t="7914" r="14324" b="8689"/>
          <a:stretch/>
        </p:blipFill>
        <p:spPr>
          <a:xfrm rot="10799985">
            <a:off x="-600126" y="3"/>
            <a:ext cx="2017251" cy="346124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1133425" y="1969050"/>
            <a:ext cx="6877200" cy="12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9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9"/>
          <p:cNvPicPr preferRelativeResize="0"/>
          <p:nvPr/>
        </p:nvPicPr>
        <p:blipFill rotWithShape="1">
          <a:blip r:embed="rId3">
            <a:alphaModFix amt="80000"/>
          </a:blip>
          <a:srcRect t="3727" r="17074" b="73696"/>
          <a:stretch/>
        </p:blipFill>
        <p:spPr>
          <a:xfrm rot="10800000">
            <a:off x="6997852" y="-102748"/>
            <a:ext cx="2201198" cy="75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9"/>
          <p:cNvPicPr preferRelativeResize="0"/>
          <p:nvPr/>
        </p:nvPicPr>
        <p:blipFill rotWithShape="1">
          <a:blip r:embed="rId4">
            <a:alphaModFix amt="80000"/>
          </a:blip>
          <a:srcRect r="12188"/>
          <a:stretch/>
        </p:blipFill>
        <p:spPr>
          <a:xfrm>
            <a:off x="-883125" y="4218950"/>
            <a:ext cx="4082202" cy="2571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-571274" y="-654048"/>
            <a:ext cx="9770323" cy="5924497"/>
            <a:chOff x="-571274" y="-654048"/>
            <a:chExt cx="9770323" cy="5924497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5">
              <a:alphaModFix amt="80000"/>
            </a:blip>
            <a:srcRect l="19511" t="7914" r="14324" b="8689"/>
            <a:stretch/>
          </p:blipFill>
          <p:spPr>
            <a:xfrm rot="-5400000" flipH="1">
              <a:off x="6238425" y="2309825"/>
              <a:ext cx="2421325" cy="3499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9"/>
            <p:cNvPicPr preferRelativeResize="0"/>
            <p:nvPr/>
          </p:nvPicPr>
          <p:blipFill rotWithShape="1">
            <a:blip r:embed="rId5">
              <a:alphaModFix amt="80000"/>
            </a:blip>
            <a:srcRect l="19511" t="7914" r="14324" b="8689"/>
            <a:stretch/>
          </p:blipFill>
          <p:spPr>
            <a:xfrm rot="5400000" flipH="1">
              <a:off x="-83973" y="-1141348"/>
              <a:ext cx="2187823" cy="3162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720000" y="1166675"/>
            <a:ext cx="4332900" cy="153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subTitle" idx="1"/>
          </p:nvPr>
        </p:nvSpPr>
        <p:spPr>
          <a:xfrm>
            <a:off x="720000" y="2834450"/>
            <a:ext cx="4332900" cy="11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>
            <a:spLocks noGrp="1"/>
          </p:cNvSpPr>
          <p:nvPr>
            <p:ph type="pic" idx="2"/>
          </p:nvPr>
        </p:nvSpPr>
        <p:spPr>
          <a:xfrm>
            <a:off x="5522525" y="601950"/>
            <a:ext cx="3025200" cy="393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1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1"/>
          <p:cNvGrpSpPr/>
          <p:nvPr/>
        </p:nvGrpSpPr>
        <p:grpSpPr>
          <a:xfrm>
            <a:off x="-203902" y="4081337"/>
            <a:ext cx="9408077" cy="2648276"/>
            <a:chOff x="-262602" y="3607287"/>
            <a:chExt cx="9408077" cy="2648276"/>
          </a:xfrm>
        </p:grpSpPr>
        <p:pic>
          <p:nvPicPr>
            <p:cNvPr id="94" name="Google Shape;94;p11"/>
            <p:cNvPicPr preferRelativeResize="0"/>
            <p:nvPr/>
          </p:nvPicPr>
          <p:blipFill rotWithShape="1">
            <a:blip r:embed="rId3">
              <a:alphaModFix amt="80000"/>
            </a:blip>
            <a:srcRect t="5820"/>
            <a:stretch/>
          </p:blipFill>
          <p:spPr>
            <a:xfrm flipH="1">
              <a:off x="-262602" y="3607287"/>
              <a:ext cx="5155502" cy="2648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1"/>
            <p:cNvPicPr preferRelativeResize="0"/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4892900" y="3788765"/>
              <a:ext cx="4252575" cy="23526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11"/>
          <p:cNvGrpSpPr/>
          <p:nvPr/>
        </p:nvGrpSpPr>
        <p:grpSpPr>
          <a:xfrm>
            <a:off x="-88052" y="-1049225"/>
            <a:ext cx="4984152" cy="2664475"/>
            <a:chOff x="-88052" y="-1049225"/>
            <a:chExt cx="4984152" cy="2664475"/>
          </a:xfrm>
        </p:grpSpPr>
        <p:pic>
          <p:nvPicPr>
            <p:cNvPr id="97" name="Google Shape;97;p11"/>
            <p:cNvPicPr preferRelativeResize="0"/>
            <p:nvPr/>
          </p:nvPicPr>
          <p:blipFill rotWithShape="1">
            <a:blip r:embed="rId5">
              <a:alphaModFix amt="80000"/>
            </a:blip>
            <a:srcRect l="29937" t="7914" r="14324" b="8689"/>
            <a:stretch/>
          </p:blipFill>
          <p:spPr>
            <a:xfrm rot="5400000" flipH="1">
              <a:off x="518949" y="-687701"/>
              <a:ext cx="1695950" cy="2909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1"/>
            <p:cNvPicPr preferRelativeResize="0"/>
            <p:nvPr/>
          </p:nvPicPr>
          <p:blipFill rotWithShape="1">
            <a:blip r:embed="rId5">
              <a:alphaModFix amt="80000"/>
            </a:blip>
            <a:srcRect l="29937" t="7914" r="14324" b="8689"/>
            <a:stretch/>
          </p:blipFill>
          <p:spPr>
            <a:xfrm rot="-5400000">
              <a:off x="2207537" y="-1757864"/>
              <a:ext cx="1979924" cy="33972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" name="Google Shape;99;p11"/>
          <p:cNvPicPr preferRelativeResize="0"/>
          <p:nvPr/>
        </p:nvPicPr>
        <p:blipFill rotWithShape="1">
          <a:blip r:embed="rId6">
            <a:alphaModFix amt="80000"/>
          </a:blip>
          <a:srcRect t="3727" r="17074" b="73696"/>
          <a:stretch/>
        </p:blipFill>
        <p:spPr>
          <a:xfrm rot="-5400000">
            <a:off x="7601527" y="799752"/>
            <a:ext cx="2201198" cy="755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652175"/>
            <a:ext cx="6576000" cy="116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1" name="Google Shape;101;p11"/>
          <p:cNvSpPr txBox="1">
            <a:spLocks noGrp="1"/>
          </p:cNvSpPr>
          <p:nvPr>
            <p:ph type="subTitle" idx="1"/>
          </p:nvPr>
        </p:nvSpPr>
        <p:spPr>
          <a:xfrm>
            <a:off x="1284000" y="3015525"/>
            <a:ext cx="6576000" cy="4758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3">
            <a:alphaModFix amt="80000"/>
          </a:blip>
          <a:srcRect l="19511" t="7914" r="14324" b="8689"/>
          <a:stretch/>
        </p:blipFill>
        <p:spPr>
          <a:xfrm rot="10800000" flipH="1">
            <a:off x="7233352" y="-7348"/>
            <a:ext cx="2187823" cy="316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 rotWithShape="1">
          <a:blip r:embed="rId4">
            <a:alphaModFix amt="80000"/>
          </a:blip>
          <a:srcRect t="3727" r="17074" b="73696"/>
          <a:stretch/>
        </p:blipFill>
        <p:spPr>
          <a:xfrm rot="10800000">
            <a:off x="57377" y="29352"/>
            <a:ext cx="2201198" cy="75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/>
          <p:cNvPicPr preferRelativeResize="0"/>
          <p:nvPr/>
        </p:nvPicPr>
        <p:blipFill rotWithShape="1">
          <a:blip r:embed="rId5">
            <a:alphaModFix amt="80000"/>
          </a:blip>
          <a:srcRect l="36515" r="31286"/>
          <a:stretch/>
        </p:blipFill>
        <p:spPr>
          <a:xfrm>
            <a:off x="-496025" y="3725475"/>
            <a:ext cx="1496827" cy="2571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"/>
          </p:nvPr>
        </p:nvSpPr>
        <p:spPr>
          <a:xfrm>
            <a:off x="1464738" y="20731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2"/>
          </p:nvPr>
        </p:nvSpPr>
        <p:spPr>
          <a:xfrm>
            <a:off x="4759961" y="20731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3"/>
          </p:nvPr>
        </p:nvSpPr>
        <p:spPr>
          <a:xfrm>
            <a:off x="1464738" y="392817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4"/>
          </p:nvPr>
        </p:nvSpPr>
        <p:spPr>
          <a:xfrm>
            <a:off x="4759961" y="392817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5" hasCustomPrompt="1"/>
          </p:nvPr>
        </p:nvSpPr>
        <p:spPr>
          <a:xfrm>
            <a:off x="1464739" y="1095725"/>
            <a:ext cx="9546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6" hasCustomPrompt="1"/>
          </p:nvPr>
        </p:nvSpPr>
        <p:spPr>
          <a:xfrm>
            <a:off x="1464739" y="2950771"/>
            <a:ext cx="9546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7" hasCustomPrompt="1"/>
          </p:nvPr>
        </p:nvSpPr>
        <p:spPr>
          <a:xfrm>
            <a:off x="4759964" y="1095725"/>
            <a:ext cx="9546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8" hasCustomPrompt="1"/>
          </p:nvPr>
        </p:nvSpPr>
        <p:spPr>
          <a:xfrm>
            <a:off x="4759964" y="2950771"/>
            <a:ext cx="9546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9"/>
          </p:nvPr>
        </p:nvSpPr>
        <p:spPr>
          <a:xfrm>
            <a:off x="1464738" y="1702700"/>
            <a:ext cx="29193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3"/>
          </p:nvPr>
        </p:nvSpPr>
        <p:spPr>
          <a:xfrm>
            <a:off x="4759964" y="1702700"/>
            <a:ext cx="29193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4"/>
          </p:nvPr>
        </p:nvSpPr>
        <p:spPr>
          <a:xfrm>
            <a:off x="1464738" y="3557600"/>
            <a:ext cx="29193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5"/>
          </p:nvPr>
        </p:nvSpPr>
        <p:spPr>
          <a:xfrm>
            <a:off x="4759964" y="3557600"/>
            <a:ext cx="29193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1">
  <p:cSld name="TITLE_ONLY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5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5"/>
          <p:cNvGrpSpPr/>
          <p:nvPr/>
        </p:nvGrpSpPr>
        <p:grpSpPr>
          <a:xfrm>
            <a:off x="-82898" y="-258127"/>
            <a:ext cx="9269423" cy="5788377"/>
            <a:chOff x="-82898" y="-258127"/>
            <a:chExt cx="9269423" cy="5788377"/>
          </a:xfrm>
        </p:grpSpPr>
        <p:pic>
          <p:nvPicPr>
            <p:cNvPr id="131" name="Google Shape;131;p15"/>
            <p:cNvPicPr preferRelativeResize="0"/>
            <p:nvPr/>
          </p:nvPicPr>
          <p:blipFill rotWithShape="1">
            <a:blip r:embed="rId3">
              <a:alphaModFix amt="80000"/>
            </a:blip>
            <a:srcRect t="3727" r="17074" b="73696"/>
            <a:stretch/>
          </p:blipFill>
          <p:spPr>
            <a:xfrm rot="5400000">
              <a:off x="7708052" y="4051777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" name="Google Shape;132;p15"/>
            <p:cNvGrpSpPr/>
            <p:nvPr/>
          </p:nvGrpSpPr>
          <p:grpSpPr>
            <a:xfrm>
              <a:off x="-82898" y="-258127"/>
              <a:ext cx="2647993" cy="930502"/>
              <a:chOff x="-82898" y="-258127"/>
              <a:chExt cx="2647993" cy="930502"/>
            </a:xfrm>
          </p:grpSpPr>
          <p:pic>
            <p:nvPicPr>
              <p:cNvPr id="133" name="Google Shape;133;p15"/>
              <p:cNvPicPr preferRelativeResize="0"/>
              <p:nvPr/>
            </p:nvPicPr>
            <p:blipFill rotWithShape="1">
              <a:blip r:embed="rId3">
                <a:alphaModFix/>
              </a:blip>
              <a:srcRect t="3727" r="17074" b="73696"/>
              <a:stretch/>
            </p:blipFill>
            <p:spPr>
              <a:xfrm>
                <a:off x="-82898" y="-83373"/>
                <a:ext cx="2201198" cy="7557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" name="Google Shape;134;p15"/>
              <p:cNvPicPr preferRelativeResize="0"/>
              <p:nvPr/>
            </p:nvPicPr>
            <p:blipFill rotWithShape="1">
              <a:blip r:embed="rId3">
                <a:alphaModFix amt="80000"/>
              </a:blip>
              <a:srcRect t="3727" r="17074" b="73696"/>
              <a:stretch/>
            </p:blipFill>
            <p:spPr>
              <a:xfrm rot="10642441">
                <a:off x="347738" y="-208098"/>
                <a:ext cx="2201199" cy="7557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15"/>
          <p:cNvPicPr preferRelativeResize="0"/>
          <p:nvPr/>
        </p:nvPicPr>
        <p:blipFill rotWithShape="1">
          <a:blip r:embed="rId4">
            <a:alphaModFix amt="80000"/>
          </a:blip>
          <a:srcRect l="19511" t="7914" r="14324" b="8689"/>
          <a:stretch/>
        </p:blipFill>
        <p:spPr>
          <a:xfrm rot="8604739">
            <a:off x="-433013" y="3343848"/>
            <a:ext cx="1998976" cy="288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/>
          <p:cNvPicPr preferRelativeResize="0"/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8210600" y="4861487"/>
            <a:ext cx="1297027" cy="1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2">
  <p:cSld name="TITLE_ONLY_1_2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 amt="80000"/>
          </a:blip>
          <a:srcRect l="19511" t="7914" r="14324" b="8689"/>
          <a:stretch/>
        </p:blipFill>
        <p:spPr>
          <a:xfrm rot="5400000">
            <a:off x="-53776" y="3519950"/>
            <a:ext cx="1998976" cy="288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019825" y="199799"/>
            <a:ext cx="1297027" cy="1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6"/>
          <p:cNvGrpSpPr/>
          <p:nvPr/>
        </p:nvGrpSpPr>
        <p:grpSpPr>
          <a:xfrm>
            <a:off x="-42523" y="2476352"/>
            <a:ext cx="9981809" cy="3045078"/>
            <a:chOff x="-42523" y="2476352"/>
            <a:chExt cx="9981809" cy="3045078"/>
          </a:xfrm>
        </p:grpSpPr>
        <p:pic>
          <p:nvPicPr>
            <p:cNvPr id="144" name="Google Shape;144;p16"/>
            <p:cNvPicPr preferRelativeResize="0"/>
            <p:nvPr/>
          </p:nvPicPr>
          <p:blipFill rotWithShape="1">
            <a:blip r:embed="rId5">
              <a:alphaModFix amt="80000"/>
            </a:blip>
            <a:srcRect t="3727" r="17074" b="73696"/>
            <a:stretch/>
          </p:blipFill>
          <p:spPr>
            <a:xfrm rot="5400000">
              <a:off x="-765248" y="3199077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16"/>
            <p:cNvGrpSpPr/>
            <p:nvPr/>
          </p:nvGrpSpPr>
          <p:grpSpPr>
            <a:xfrm>
              <a:off x="7056402" y="4221724"/>
              <a:ext cx="2882884" cy="1299706"/>
              <a:chOff x="7056402" y="4221724"/>
              <a:chExt cx="2882884" cy="1299706"/>
            </a:xfrm>
          </p:grpSpPr>
          <p:pic>
            <p:nvPicPr>
              <p:cNvPr id="146" name="Google Shape;146;p16"/>
              <p:cNvPicPr preferRelativeResize="0"/>
              <p:nvPr/>
            </p:nvPicPr>
            <p:blipFill rotWithShape="1">
              <a:blip r:embed="rId5">
                <a:alphaModFix/>
              </a:blip>
              <a:srcRect t="3727" r="17074" b="73696"/>
              <a:stretch/>
            </p:blipFill>
            <p:spPr>
              <a:xfrm>
                <a:off x="7056402" y="4493702"/>
                <a:ext cx="2201198" cy="7557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7" name="Google Shape;147;p16"/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3727" r="17074" b="73696"/>
              <a:stretch/>
            </p:blipFill>
            <p:spPr>
              <a:xfrm rot="9900001">
                <a:off x="7677789" y="4493704"/>
                <a:ext cx="2201197" cy="7557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7"/>
          <p:cNvGrpSpPr/>
          <p:nvPr/>
        </p:nvGrpSpPr>
        <p:grpSpPr>
          <a:xfrm>
            <a:off x="57377" y="29352"/>
            <a:ext cx="6317498" cy="5126748"/>
            <a:chOff x="57377" y="29352"/>
            <a:chExt cx="6317498" cy="5126748"/>
          </a:xfrm>
        </p:grpSpPr>
        <p:pic>
          <p:nvPicPr>
            <p:cNvPr id="151" name="Google Shape;151;p17"/>
            <p:cNvPicPr preferRelativeResize="0"/>
            <p:nvPr/>
          </p:nvPicPr>
          <p:blipFill rotWithShape="1">
            <a:blip r:embed="rId3">
              <a:alphaModFix amt="80000"/>
            </a:blip>
            <a:srcRect t="3727" r="17074" b="73696"/>
            <a:stretch/>
          </p:blipFill>
          <p:spPr>
            <a:xfrm rot="10800000">
              <a:off x="57377" y="29352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7"/>
            <p:cNvPicPr preferRelativeResize="0"/>
            <p:nvPr/>
          </p:nvPicPr>
          <p:blipFill rotWithShape="1">
            <a:blip r:embed="rId3">
              <a:alphaModFix amt="80000"/>
            </a:blip>
            <a:srcRect t="3727" r="17074" b="73696"/>
            <a:stretch/>
          </p:blipFill>
          <p:spPr>
            <a:xfrm>
              <a:off x="4173677" y="4400352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3" name="Google Shape;153;p17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0800000" flipH="1">
            <a:off x="616425" y="4726424"/>
            <a:ext cx="1297027" cy="1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1"/>
          </p:nvPr>
        </p:nvSpPr>
        <p:spPr>
          <a:xfrm>
            <a:off x="4891123" y="1770350"/>
            <a:ext cx="3318600" cy="19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2"/>
          </p:nvPr>
        </p:nvSpPr>
        <p:spPr>
          <a:xfrm>
            <a:off x="934275" y="1770350"/>
            <a:ext cx="3318600" cy="19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5">
            <a:alphaModFix amt="80000"/>
          </a:blip>
          <a:srcRect l="19511" t="7914" r="14324" b="8689"/>
          <a:stretch/>
        </p:blipFill>
        <p:spPr>
          <a:xfrm>
            <a:off x="7535475" y="2818450"/>
            <a:ext cx="1608525" cy="2325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 amt="80000"/>
          </a:blip>
          <a:srcRect l="19511" t="7914" r="14324" b="8689"/>
          <a:stretch/>
        </p:blipFill>
        <p:spPr>
          <a:xfrm rot="10800000">
            <a:off x="-726675" y="-434673"/>
            <a:ext cx="2187823" cy="3162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8"/>
          <p:cNvGrpSpPr/>
          <p:nvPr/>
        </p:nvGrpSpPr>
        <p:grpSpPr>
          <a:xfrm>
            <a:off x="-2" y="3744200"/>
            <a:ext cx="9325802" cy="2571751"/>
            <a:chOff x="-2" y="3744200"/>
            <a:chExt cx="9325802" cy="2571751"/>
          </a:xfrm>
        </p:grpSpPr>
        <p:pic>
          <p:nvPicPr>
            <p:cNvPr id="162" name="Google Shape;162;p18"/>
            <p:cNvPicPr preferRelativeResize="0"/>
            <p:nvPr/>
          </p:nvPicPr>
          <p:blipFill rotWithShape="1">
            <a:blip r:embed="rId4">
              <a:alphaModFix amt="80000"/>
            </a:blip>
            <a:srcRect l="36515" r="31286"/>
            <a:stretch/>
          </p:blipFill>
          <p:spPr>
            <a:xfrm flipH="1">
              <a:off x="7828973" y="3744200"/>
              <a:ext cx="1496827" cy="257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8"/>
            <p:cNvPicPr preferRelativeResize="0"/>
            <p:nvPr/>
          </p:nvPicPr>
          <p:blipFill rotWithShape="1">
            <a:blip r:embed="rId4">
              <a:alphaModFix amt="80000"/>
            </a:blip>
            <a:srcRect l="36831" r="30971"/>
            <a:stretch/>
          </p:blipFill>
          <p:spPr>
            <a:xfrm flipH="1">
              <a:off x="-2" y="3744200"/>
              <a:ext cx="1496827" cy="25717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8"/>
          <p:cNvGrpSpPr/>
          <p:nvPr/>
        </p:nvGrpSpPr>
        <p:grpSpPr>
          <a:xfrm>
            <a:off x="6880342" y="-147288"/>
            <a:ext cx="2327317" cy="1432278"/>
            <a:chOff x="6880342" y="-147288"/>
            <a:chExt cx="2327317" cy="1432278"/>
          </a:xfrm>
        </p:grpSpPr>
        <p:pic>
          <p:nvPicPr>
            <p:cNvPr id="165" name="Google Shape;165;p18"/>
            <p:cNvPicPr preferRelativeResize="0"/>
            <p:nvPr/>
          </p:nvPicPr>
          <p:blipFill rotWithShape="1">
            <a:blip r:embed="rId5">
              <a:alphaModFix amt="80000"/>
            </a:blip>
            <a:srcRect t="3727" r="17074" b="73696"/>
            <a:stretch/>
          </p:blipFill>
          <p:spPr>
            <a:xfrm rot="10800000" flipH="1">
              <a:off x="6880350" y="29352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8"/>
            <p:cNvPicPr preferRelativeResize="0"/>
            <p:nvPr/>
          </p:nvPicPr>
          <p:blipFill rotWithShape="1">
            <a:blip r:embed="rId5">
              <a:alphaModFix amt="80000"/>
            </a:blip>
            <a:srcRect t="3727" r="17074" b="73696"/>
            <a:stretch/>
          </p:blipFill>
          <p:spPr>
            <a:xfrm rot="1141997" flipH="1">
              <a:off x="6943402" y="190978"/>
              <a:ext cx="2201197" cy="7557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954800" y="1838275"/>
            <a:ext cx="2875200" cy="62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1"/>
          </p:nvPr>
        </p:nvSpPr>
        <p:spPr>
          <a:xfrm>
            <a:off x="954800" y="2516150"/>
            <a:ext cx="2875200" cy="10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 amt="80000"/>
          </a:blip>
          <a:srcRect l="19511" t="7914" r="14324" b="8689"/>
          <a:stretch/>
        </p:blipFill>
        <p:spPr>
          <a:xfrm rot="10800000">
            <a:off x="-503375" y="-196473"/>
            <a:ext cx="2187823" cy="316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4">
            <a:alphaModFix amt="80000"/>
          </a:blip>
          <a:srcRect t="3727" r="17074" b="73696"/>
          <a:stretch/>
        </p:blipFill>
        <p:spPr>
          <a:xfrm rot="10800000" flipH="1">
            <a:off x="7254550" y="-88048"/>
            <a:ext cx="2201198" cy="75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5">
            <a:alphaModFix amt="80000"/>
          </a:blip>
          <a:srcRect l="36515" r="31286"/>
          <a:stretch/>
        </p:blipFill>
        <p:spPr>
          <a:xfrm flipH="1">
            <a:off x="7828973" y="3744200"/>
            <a:ext cx="1496827" cy="2571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>
            <a:spLocks noGrp="1"/>
          </p:cNvSpPr>
          <p:nvPr>
            <p:ph type="subTitle" idx="1"/>
          </p:nvPr>
        </p:nvSpPr>
        <p:spPr>
          <a:xfrm>
            <a:off x="937700" y="2864797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subTitle" idx="2"/>
          </p:nvPr>
        </p:nvSpPr>
        <p:spPr>
          <a:xfrm>
            <a:off x="3484425" y="2864797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3"/>
          </p:nvPr>
        </p:nvSpPr>
        <p:spPr>
          <a:xfrm>
            <a:off x="6031150" y="2864797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subTitle" idx="4"/>
          </p:nvPr>
        </p:nvSpPr>
        <p:spPr>
          <a:xfrm>
            <a:off x="937700" y="257175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5"/>
          </p:nvPr>
        </p:nvSpPr>
        <p:spPr>
          <a:xfrm>
            <a:off x="3484422" y="257175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6"/>
          </p:nvPr>
        </p:nvSpPr>
        <p:spPr>
          <a:xfrm>
            <a:off x="6031150" y="257175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/>
          <p:cNvPicPr preferRelativeResize="0"/>
          <p:nvPr/>
        </p:nvPicPr>
        <p:blipFill rotWithShape="1">
          <a:blip r:embed="rId3">
            <a:alphaModFix amt="80000"/>
          </a:blip>
          <a:srcRect l="19511" t="7914" r="14324" b="8689"/>
          <a:stretch/>
        </p:blipFill>
        <p:spPr>
          <a:xfrm rot="10800000" flipH="1">
            <a:off x="7475477" y="-142473"/>
            <a:ext cx="2187823" cy="316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 rotWithShape="1">
          <a:blip r:embed="rId4">
            <a:alphaModFix amt="80000"/>
          </a:blip>
          <a:srcRect t="3727" r="17074" b="73696"/>
          <a:stretch/>
        </p:blipFill>
        <p:spPr>
          <a:xfrm rot="10800000">
            <a:off x="57377" y="29352"/>
            <a:ext cx="2201198" cy="7557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22"/>
          <p:cNvGrpSpPr/>
          <p:nvPr/>
        </p:nvGrpSpPr>
        <p:grpSpPr>
          <a:xfrm>
            <a:off x="-682125" y="3725475"/>
            <a:ext cx="10345425" cy="2747851"/>
            <a:chOff x="-496025" y="3725475"/>
            <a:chExt cx="10345425" cy="2747851"/>
          </a:xfrm>
        </p:grpSpPr>
        <p:pic>
          <p:nvPicPr>
            <p:cNvPr id="210" name="Google Shape;210;p22"/>
            <p:cNvPicPr preferRelativeResize="0"/>
            <p:nvPr/>
          </p:nvPicPr>
          <p:blipFill rotWithShape="1">
            <a:blip r:embed="rId5">
              <a:alphaModFix amt="80000"/>
            </a:blip>
            <a:srcRect l="36515" r="31286"/>
            <a:stretch/>
          </p:blipFill>
          <p:spPr>
            <a:xfrm>
              <a:off x="-496025" y="3725475"/>
              <a:ext cx="1496827" cy="257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2"/>
            <p:cNvPicPr preferRelativeResize="0"/>
            <p:nvPr/>
          </p:nvPicPr>
          <p:blipFill rotWithShape="1">
            <a:blip r:embed="rId5">
              <a:alphaModFix amt="80000"/>
            </a:blip>
            <a:srcRect l="3372" r="66492"/>
            <a:stretch/>
          </p:blipFill>
          <p:spPr>
            <a:xfrm flipH="1">
              <a:off x="8448450" y="3901575"/>
              <a:ext cx="1400950" cy="2571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2"/>
          <p:cNvSpPr txBox="1">
            <a:spLocks noGrp="1"/>
          </p:cNvSpPr>
          <p:nvPr>
            <p:ph type="subTitle" idx="1"/>
          </p:nvPr>
        </p:nvSpPr>
        <p:spPr>
          <a:xfrm>
            <a:off x="937700" y="3374536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2"/>
          <p:cNvSpPr txBox="1">
            <a:spLocks noGrp="1"/>
          </p:cNvSpPr>
          <p:nvPr>
            <p:ph type="subTitle" idx="2"/>
          </p:nvPr>
        </p:nvSpPr>
        <p:spPr>
          <a:xfrm>
            <a:off x="3484425" y="3374536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2"/>
          <p:cNvSpPr txBox="1">
            <a:spLocks noGrp="1"/>
          </p:cNvSpPr>
          <p:nvPr>
            <p:ph type="subTitle" idx="3"/>
          </p:nvPr>
        </p:nvSpPr>
        <p:spPr>
          <a:xfrm>
            <a:off x="6031150" y="3374536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ubTitle" idx="4"/>
          </p:nvPr>
        </p:nvSpPr>
        <p:spPr>
          <a:xfrm>
            <a:off x="937700" y="30860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17" name="Google Shape;217;p22"/>
          <p:cNvSpPr txBox="1">
            <a:spLocks noGrp="1"/>
          </p:cNvSpPr>
          <p:nvPr>
            <p:ph type="subTitle" idx="5"/>
          </p:nvPr>
        </p:nvSpPr>
        <p:spPr>
          <a:xfrm>
            <a:off x="3484422" y="30860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18" name="Google Shape;218;p22"/>
          <p:cNvSpPr txBox="1">
            <a:spLocks noGrp="1"/>
          </p:cNvSpPr>
          <p:nvPr>
            <p:ph type="subTitle" idx="6"/>
          </p:nvPr>
        </p:nvSpPr>
        <p:spPr>
          <a:xfrm>
            <a:off x="6031150" y="30860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 amt="80000"/>
          </a:blip>
          <a:srcRect t="3727" r="17074" b="73696"/>
          <a:stretch/>
        </p:blipFill>
        <p:spPr>
          <a:xfrm rot="5400000">
            <a:off x="-763123" y="3697752"/>
            <a:ext cx="2201198" cy="75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-5400000" flipH="1">
            <a:off x="-234725" y="3483149"/>
            <a:ext cx="1297027" cy="1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3"/>
          <p:cNvGrpSpPr/>
          <p:nvPr/>
        </p:nvGrpSpPr>
        <p:grpSpPr>
          <a:xfrm>
            <a:off x="-337287" y="-360938"/>
            <a:ext cx="9481287" cy="5504437"/>
            <a:chOff x="-337287" y="-360938"/>
            <a:chExt cx="9481287" cy="5504437"/>
          </a:xfrm>
        </p:grpSpPr>
        <p:pic>
          <p:nvPicPr>
            <p:cNvPr id="224" name="Google Shape;224;p23"/>
            <p:cNvPicPr preferRelativeResize="0"/>
            <p:nvPr/>
          </p:nvPicPr>
          <p:blipFill rotWithShape="1">
            <a:blip r:embed="rId5">
              <a:alphaModFix amt="80000"/>
            </a:blip>
            <a:srcRect l="19511" t="7914" r="14324" b="8689"/>
            <a:stretch/>
          </p:blipFill>
          <p:spPr>
            <a:xfrm>
              <a:off x="7102575" y="2192700"/>
              <a:ext cx="2041425" cy="2950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3"/>
            <p:cNvPicPr preferRelativeResize="0"/>
            <p:nvPr/>
          </p:nvPicPr>
          <p:blipFill rotWithShape="1">
            <a:blip r:embed="rId5">
              <a:alphaModFix amt="80000"/>
            </a:blip>
            <a:srcRect l="19511" t="7914" r="14324" b="8689"/>
            <a:stretch/>
          </p:blipFill>
          <p:spPr>
            <a:xfrm rot="5400000" flipH="1">
              <a:off x="117400" y="-815625"/>
              <a:ext cx="2041425" cy="2950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"/>
          </p:nvPr>
        </p:nvSpPr>
        <p:spPr>
          <a:xfrm>
            <a:off x="1201350" y="1981943"/>
            <a:ext cx="3208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2"/>
          </p:nvPr>
        </p:nvSpPr>
        <p:spPr>
          <a:xfrm>
            <a:off x="4734149" y="1981943"/>
            <a:ext cx="3208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3"/>
          </p:nvPr>
        </p:nvSpPr>
        <p:spPr>
          <a:xfrm>
            <a:off x="1201350" y="3415350"/>
            <a:ext cx="3208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3"/>
          <p:cNvSpPr txBox="1">
            <a:spLocks noGrp="1"/>
          </p:cNvSpPr>
          <p:nvPr>
            <p:ph type="subTitle" idx="4"/>
          </p:nvPr>
        </p:nvSpPr>
        <p:spPr>
          <a:xfrm>
            <a:off x="4734149" y="3415350"/>
            <a:ext cx="3208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3"/>
          <p:cNvSpPr txBox="1">
            <a:spLocks noGrp="1"/>
          </p:cNvSpPr>
          <p:nvPr>
            <p:ph type="subTitle" idx="5"/>
          </p:nvPr>
        </p:nvSpPr>
        <p:spPr>
          <a:xfrm>
            <a:off x="1201350" y="1676000"/>
            <a:ext cx="3208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subTitle" idx="6"/>
          </p:nvPr>
        </p:nvSpPr>
        <p:spPr>
          <a:xfrm>
            <a:off x="4734146" y="1676000"/>
            <a:ext cx="3208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subTitle" idx="7"/>
          </p:nvPr>
        </p:nvSpPr>
        <p:spPr>
          <a:xfrm>
            <a:off x="1201350" y="3109457"/>
            <a:ext cx="3208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34" name="Google Shape;234;p23"/>
          <p:cNvSpPr txBox="1">
            <a:spLocks noGrp="1"/>
          </p:cNvSpPr>
          <p:nvPr>
            <p:ph type="subTitle" idx="8"/>
          </p:nvPr>
        </p:nvSpPr>
        <p:spPr>
          <a:xfrm>
            <a:off x="4734146" y="3109457"/>
            <a:ext cx="3208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/>
          <p:cNvPicPr preferRelativeResize="0"/>
          <p:nvPr/>
        </p:nvPicPr>
        <p:blipFill rotWithShape="1">
          <a:blip r:embed="rId3">
            <a:alphaModFix amt="80000"/>
          </a:blip>
          <a:srcRect t="3727" r="17074" b="73696"/>
          <a:stretch/>
        </p:blipFill>
        <p:spPr>
          <a:xfrm rot="10800000">
            <a:off x="6966177" y="12627"/>
            <a:ext cx="2201198" cy="7557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24"/>
          <p:cNvGrpSpPr/>
          <p:nvPr/>
        </p:nvGrpSpPr>
        <p:grpSpPr>
          <a:xfrm>
            <a:off x="-687698" y="-486623"/>
            <a:ext cx="10625898" cy="6414373"/>
            <a:chOff x="-687698" y="-486623"/>
            <a:chExt cx="10625898" cy="6414373"/>
          </a:xfrm>
        </p:grpSpPr>
        <p:pic>
          <p:nvPicPr>
            <p:cNvPr id="239" name="Google Shape;239;p24"/>
            <p:cNvPicPr preferRelativeResize="0"/>
            <p:nvPr/>
          </p:nvPicPr>
          <p:blipFill rotWithShape="1">
            <a:blip r:embed="rId4">
              <a:alphaModFix amt="80000"/>
            </a:blip>
            <a:srcRect l="19511" t="7914" r="14324" b="8689"/>
            <a:stretch/>
          </p:blipFill>
          <p:spPr>
            <a:xfrm>
              <a:off x="7516875" y="2427825"/>
              <a:ext cx="2421325" cy="3499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4"/>
            <p:cNvPicPr preferRelativeResize="0"/>
            <p:nvPr/>
          </p:nvPicPr>
          <p:blipFill rotWithShape="1">
            <a:blip r:embed="rId4">
              <a:alphaModFix amt="80000"/>
            </a:blip>
            <a:srcRect l="19511" t="7914" r="14324" b="8689"/>
            <a:stretch/>
          </p:blipFill>
          <p:spPr>
            <a:xfrm rot="10800000">
              <a:off x="-687698" y="-486623"/>
              <a:ext cx="2187823" cy="3162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4"/>
          <p:cNvSpPr txBox="1">
            <a:spLocks noGrp="1"/>
          </p:cNvSpPr>
          <p:nvPr>
            <p:ph type="subTitle" idx="1"/>
          </p:nvPr>
        </p:nvSpPr>
        <p:spPr>
          <a:xfrm>
            <a:off x="1101175" y="21243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subTitle" idx="2"/>
          </p:nvPr>
        </p:nvSpPr>
        <p:spPr>
          <a:xfrm>
            <a:off x="3578947" y="21243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4"/>
          <p:cNvSpPr txBox="1">
            <a:spLocks noGrp="1"/>
          </p:cNvSpPr>
          <p:nvPr>
            <p:ph type="subTitle" idx="3"/>
          </p:nvPr>
        </p:nvSpPr>
        <p:spPr>
          <a:xfrm>
            <a:off x="1101175" y="3959675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4"/>
          <p:cNvSpPr txBox="1">
            <a:spLocks noGrp="1"/>
          </p:cNvSpPr>
          <p:nvPr>
            <p:ph type="subTitle" idx="4"/>
          </p:nvPr>
        </p:nvSpPr>
        <p:spPr>
          <a:xfrm>
            <a:off x="3578950" y="3959675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4"/>
          <p:cNvSpPr txBox="1">
            <a:spLocks noGrp="1"/>
          </p:cNvSpPr>
          <p:nvPr>
            <p:ph type="subTitle" idx="5"/>
          </p:nvPr>
        </p:nvSpPr>
        <p:spPr>
          <a:xfrm>
            <a:off x="6056725" y="21243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4"/>
          <p:cNvSpPr txBox="1">
            <a:spLocks noGrp="1"/>
          </p:cNvSpPr>
          <p:nvPr>
            <p:ph type="subTitle" idx="6"/>
          </p:nvPr>
        </p:nvSpPr>
        <p:spPr>
          <a:xfrm>
            <a:off x="6056725" y="3959675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4"/>
          <p:cNvSpPr txBox="1">
            <a:spLocks noGrp="1"/>
          </p:cNvSpPr>
          <p:nvPr>
            <p:ph type="subTitle" idx="7"/>
          </p:nvPr>
        </p:nvSpPr>
        <p:spPr>
          <a:xfrm>
            <a:off x="1101175" y="1760951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subTitle" idx="8"/>
          </p:nvPr>
        </p:nvSpPr>
        <p:spPr>
          <a:xfrm>
            <a:off x="3578947" y="1760951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50" name="Google Shape;250;p24"/>
          <p:cNvSpPr txBox="1">
            <a:spLocks noGrp="1"/>
          </p:cNvSpPr>
          <p:nvPr>
            <p:ph type="subTitle" idx="9"/>
          </p:nvPr>
        </p:nvSpPr>
        <p:spPr>
          <a:xfrm>
            <a:off x="1101175" y="3596426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subTitle" idx="13"/>
          </p:nvPr>
        </p:nvSpPr>
        <p:spPr>
          <a:xfrm>
            <a:off x="3578947" y="3596426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52" name="Google Shape;252;p24"/>
          <p:cNvSpPr txBox="1">
            <a:spLocks noGrp="1"/>
          </p:cNvSpPr>
          <p:nvPr>
            <p:ph type="subTitle" idx="14"/>
          </p:nvPr>
        </p:nvSpPr>
        <p:spPr>
          <a:xfrm>
            <a:off x="6056725" y="1760951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253" name="Google Shape;253;p24"/>
          <p:cNvSpPr txBox="1">
            <a:spLocks noGrp="1"/>
          </p:cNvSpPr>
          <p:nvPr>
            <p:ph type="subTitle" idx="15"/>
          </p:nvPr>
        </p:nvSpPr>
        <p:spPr>
          <a:xfrm>
            <a:off x="6056725" y="3596426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0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 b="1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5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>
            <a:spLocks noGrp="1"/>
          </p:cNvSpPr>
          <p:nvPr>
            <p:ph type="title" hasCustomPrompt="1"/>
          </p:nvPr>
        </p:nvSpPr>
        <p:spPr>
          <a:xfrm>
            <a:off x="2415625" y="539500"/>
            <a:ext cx="4312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25"/>
          <p:cNvSpPr txBox="1">
            <a:spLocks noGrp="1"/>
          </p:cNvSpPr>
          <p:nvPr>
            <p:ph type="subTitle" idx="1"/>
          </p:nvPr>
        </p:nvSpPr>
        <p:spPr>
          <a:xfrm>
            <a:off x="2415625" y="1309224"/>
            <a:ext cx="4312800" cy="4758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25"/>
          <p:cNvSpPr txBox="1">
            <a:spLocks noGrp="1"/>
          </p:cNvSpPr>
          <p:nvPr>
            <p:ph type="title" idx="2" hasCustomPrompt="1"/>
          </p:nvPr>
        </p:nvSpPr>
        <p:spPr>
          <a:xfrm>
            <a:off x="2415625" y="1951514"/>
            <a:ext cx="4312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25"/>
          <p:cNvSpPr txBox="1">
            <a:spLocks noGrp="1"/>
          </p:cNvSpPr>
          <p:nvPr>
            <p:ph type="subTitle" idx="3"/>
          </p:nvPr>
        </p:nvSpPr>
        <p:spPr>
          <a:xfrm>
            <a:off x="2415625" y="2722712"/>
            <a:ext cx="4312800" cy="4758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25"/>
          <p:cNvSpPr txBox="1">
            <a:spLocks noGrp="1"/>
          </p:cNvSpPr>
          <p:nvPr>
            <p:ph type="title" idx="4" hasCustomPrompt="1"/>
          </p:nvPr>
        </p:nvSpPr>
        <p:spPr>
          <a:xfrm>
            <a:off x="2415625" y="3364503"/>
            <a:ext cx="4312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5"/>
          <p:cNvSpPr txBox="1">
            <a:spLocks noGrp="1"/>
          </p:cNvSpPr>
          <p:nvPr>
            <p:ph type="subTitle" idx="5"/>
          </p:nvPr>
        </p:nvSpPr>
        <p:spPr>
          <a:xfrm>
            <a:off x="2415625" y="4136200"/>
            <a:ext cx="4312800" cy="4758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62" name="Google Shape;262;p25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-5400000">
            <a:off x="8085900" y="3494274"/>
            <a:ext cx="1297027" cy="1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25"/>
          <p:cNvGrpSpPr/>
          <p:nvPr/>
        </p:nvGrpSpPr>
        <p:grpSpPr>
          <a:xfrm>
            <a:off x="-924140" y="-436897"/>
            <a:ext cx="11059120" cy="5207905"/>
            <a:chOff x="-924140" y="-436897"/>
            <a:chExt cx="11059120" cy="5207905"/>
          </a:xfrm>
        </p:grpSpPr>
        <p:pic>
          <p:nvPicPr>
            <p:cNvPr id="264" name="Google Shape;264;p25"/>
            <p:cNvPicPr preferRelativeResize="0"/>
            <p:nvPr/>
          </p:nvPicPr>
          <p:blipFill rotWithShape="1">
            <a:blip r:embed="rId4">
              <a:alphaModFix amt="80000"/>
            </a:blip>
            <a:srcRect l="29937" t="7914" r="14324" b="8689"/>
            <a:stretch/>
          </p:blipFill>
          <p:spPr>
            <a:xfrm rot="-5400014">
              <a:off x="7119176" y="-1231797"/>
              <a:ext cx="2220900" cy="3810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5"/>
            <p:cNvPicPr preferRelativeResize="0"/>
            <p:nvPr/>
          </p:nvPicPr>
          <p:blipFill rotWithShape="1">
            <a:blip r:embed="rId4">
              <a:alphaModFix amt="80000"/>
            </a:blip>
            <a:srcRect l="29937" t="7914" r="14324" b="8689"/>
            <a:stretch/>
          </p:blipFill>
          <p:spPr>
            <a:xfrm rot="931348" flipH="1">
              <a:off x="-454750" y="732628"/>
              <a:ext cx="2220902" cy="3810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6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2347950" y="645700"/>
            <a:ext cx="4448100" cy="9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6"/>
          <p:cNvSpPr txBox="1">
            <a:spLocks noGrp="1"/>
          </p:cNvSpPr>
          <p:nvPr>
            <p:ph type="subTitle" idx="1"/>
          </p:nvPr>
        </p:nvSpPr>
        <p:spPr>
          <a:xfrm>
            <a:off x="2347900" y="1813605"/>
            <a:ext cx="4448100" cy="11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200" b="1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71" name="Google Shape;271;p26"/>
          <p:cNvGrpSpPr/>
          <p:nvPr/>
        </p:nvGrpSpPr>
        <p:grpSpPr>
          <a:xfrm>
            <a:off x="2" y="-7348"/>
            <a:ext cx="9426848" cy="5545348"/>
            <a:chOff x="2" y="-7348"/>
            <a:chExt cx="9426848" cy="5545348"/>
          </a:xfrm>
        </p:grpSpPr>
        <p:pic>
          <p:nvPicPr>
            <p:cNvPr id="272" name="Google Shape;272;p26"/>
            <p:cNvPicPr preferRelativeResize="0"/>
            <p:nvPr/>
          </p:nvPicPr>
          <p:blipFill rotWithShape="1">
            <a:blip r:embed="rId6">
              <a:alphaModFix/>
            </a:blip>
            <a:srcRect l="19511" t="7914" r="14324" b="8689"/>
            <a:stretch/>
          </p:blipFill>
          <p:spPr>
            <a:xfrm>
              <a:off x="7005525" y="2038075"/>
              <a:ext cx="2421325" cy="3499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6"/>
            <p:cNvPicPr preferRelativeResize="0"/>
            <p:nvPr/>
          </p:nvPicPr>
          <p:blipFill rotWithShape="1">
            <a:blip r:embed="rId6">
              <a:alphaModFix/>
            </a:blip>
            <a:srcRect l="19511" t="7914" r="14324" b="8689"/>
            <a:stretch/>
          </p:blipFill>
          <p:spPr>
            <a:xfrm rot="10800000">
              <a:off x="2" y="-7348"/>
              <a:ext cx="2187823" cy="31624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26"/>
          <p:cNvGrpSpPr/>
          <p:nvPr/>
        </p:nvGrpSpPr>
        <p:grpSpPr>
          <a:xfrm>
            <a:off x="1" y="-1018450"/>
            <a:ext cx="9143990" cy="7216326"/>
            <a:chOff x="1" y="-1018450"/>
            <a:chExt cx="9143990" cy="7216326"/>
          </a:xfrm>
        </p:grpSpPr>
        <p:pic>
          <p:nvPicPr>
            <p:cNvPr id="275" name="Google Shape;275;p26"/>
            <p:cNvPicPr preferRelativeResize="0"/>
            <p:nvPr/>
          </p:nvPicPr>
          <p:blipFill rotWithShape="1">
            <a:blip r:embed="rId7">
              <a:alphaModFix/>
            </a:blip>
            <a:srcRect l="43934" r="12189"/>
            <a:stretch/>
          </p:blipFill>
          <p:spPr>
            <a:xfrm>
              <a:off x="1" y="3626125"/>
              <a:ext cx="2039777" cy="257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6"/>
            <p:cNvPicPr preferRelativeResize="0"/>
            <p:nvPr/>
          </p:nvPicPr>
          <p:blipFill rotWithShape="1">
            <a:blip r:embed="rId7">
              <a:alphaModFix/>
            </a:blip>
            <a:srcRect l="43934" r="12189"/>
            <a:stretch/>
          </p:blipFill>
          <p:spPr>
            <a:xfrm rot="10800000">
              <a:off x="7104213" y="-1018450"/>
              <a:ext cx="2039777" cy="25717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7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27"/>
          <p:cNvGrpSpPr/>
          <p:nvPr/>
        </p:nvGrpSpPr>
        <p:grpSpPr>
          <a:xfrm>
            <a:off x="0" y="-12601"/>
            <a:ext cx="9735927" cy="5625478"/>
            <a:chOff x="0" y="-12601"/>
            <a:chExt cx="9735927" cy="5625478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 amt="80000"/>
            </a:blip>
            <a:srcRect l="19511" t="7914" r="14324" b="8689"/>
            <a:stretch/>
          </p:blipFill>
          <p:spPr>
            <a:xfrm rot="-5400000" flipH="1">
              <a:off x="5845638" y="1722587"/>
              <a:ext cx="3181652" cy="4598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7"/>
            <p:cNvPicPr preferRelativeResize="0"/>
            <p:nvPr/>
          </p:nvPicPr>
          <p:blipFill rotWithShape="1">
            <a:blip r:embed="rId3">
              <a:alphaModFix amt="80000"/>
            </a:blip>
            <a:srcRect l="19511" t="7914" r="14324" b="8689"/>
            <a:stretch/>
          </p:blipFill>
          <p:spPr>
            <a:xfrm rot="5400000" flipH="1">
              <a:off x="562024" y="-574626"/>
              <a:ext cx="2523301" cy="364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2" name="Google Shape;282;p27"/>
          <p:cNvGrpSpPr/>
          <p:nvPr/>
        </p:nvGrpSpPr>
        <p:grpSpPr>
          <a:xfrm>
            <a:off x="5137006" y="-134913"/>
            <a:ext cx="3771744" cy="1281529"/>
            <a:chOff x="5137006" y="-134913"/>
            <a:chExt cx="3771744" cy="1281529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 amt="80000"/>
            </a:blip>
            <a:srcRect t="3727" r="17074" b="73696"/>
            <a:stretch/>
          </p:blipFill>
          <p:spPr>
            <a:xfrm rot="10800000">
              <a:off x="6707552" y="-102748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7"/>
            <p:cNvPicPr preferRelativeResize="0"/>
            <p:nvPr/>
          </p:nvPicPr>
          <p:blipFill rotWithShape="1">
            <a:blip r:embed="rId4">
              <a:alphaModFix amt="80000"/>
            </a:blip>
            <a:srcRect t="3727" r="17074" b="73696"/>
            <a:stretch/>
          </p:blipFill>
          <p:spPr>
            <a:xfrm rot="-867736">
              <a:off x="5196502" y="127979"/>
              <a:ext cx="2201198" cy="755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 rotWithShape="1">
          <a:blip r:embed="rId2">
            <a:alphaModFix/>
          </a:blip>
          <a:srcRect t="1777" r="21642"/>
          <a:stretch/>
        </p:blipFill>
        <p:spPr>
          <a:xfrm rot="5400000">
            <a:off x="1996813" y="-2009413"/>
            <a:ext cx="5163424" cy="915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28"/>
          <p:cNvGrpSpPr/>
          <p:nvPr/>
        </p:nvGrpSpPr>
        <p:grpSpPr>
          <a:xfrm>
            <a:off x="-883125" y="-746376"/>
            <a:ext cx="10105705" cy="7075578"/>
            <a:chOff x="-883125" y="-746376"/>
            <a:chExt cx="10105705" cy="7075578"/>
          </a:xfrm>
        </p:grpSpPr>
        <p:pic>
          <p:nvPicPr>
            <p:cNvPr id="288" name="Google Shape;288;p28"/>
            <p:cNvPicPr preferRelativeResize="0"/>
            <p:nvPr/>
          </p:nvPicPr>
          <p:blipFill rotWithShape="1">
            <a:blip r:embed="rId3">
              <a:alphaModFix amt="80000"/>
            </a:blip>
            <a:srcRect r="12188"/>
            <a:stretch/>
          </p:blipFill>
          <p:spPr>
            <a:xfrm>
              <a:off x="-883125" y="3757450"/>
              <a:ext cx="4082202" cy="257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8"/>
            <p:cNvPicPr preferRelativeResize="0"/>
            <p:nvPr/>
          </p:nvPicPr>
          <p:blipFill rotWithShape="1">
            <a:blip r:embed="rId3">
              <a:alphaModFix/>
            </a:blip>
            <a:srcRect l="24153" r="12184"/>
            <a:stretch/>
          </p:blipFill>
          <p:spPr>
            <a:xfrm rot="10800000">
              <a:off x="6263108" y="-746376"/>
              <a:ext cx="2959473" cy="25717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0" name="Google Shape;290;p28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-5400000" flipH="1">
            <a:off x="-234725" y="3483149"/>
            <a:ext cx="1297027" cy="1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8"/>
          <p:cNvGrpSpPr/>
          <p:nvPr/>
        </p:nvGrpSpPr>
        <p:grpSpPr>
          <a:xfrm>
            <a:off x="-155336" y="-387066"/>
            <a:ext cx="1614671" cy="3077116"/>
            <a:chOff x="-155336" y="-387066"/>
            <a:chExt cx="1614671" cy="3077116"/>
          </a:xfrm>
        </p:grpSpPr>
        <p:pic>
          <p:nvPicPr>
            <p:cNvPr id="292" name="Google Shape;292;p28"/>
            <p:cNvPicPr preferRelativeResize="0"/>
            <p:nvPr/>
          </p:nvPicPr>
          <p:blipFill rotWithShape="1">
            <a:blip r:embed="rId5">
              <a:alphaModFix amt="80000"/>
            </a:blip>
            <a:srcRect t="3727" r="17074" b="73696"/>
            <a:stretch/>
          </p:blipFill>
          <p:spPr>
            <a:xfrm rot="5400000">
              <a:off x="-686798" y="1211577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8"/>
            <p:cNvPicPr preferRelativeResize="0"/>
            <p:nvPr/>
          </p:nvPicPr>
          <p:blipFill rotWithShape="1">
            <a:blip r:embed="rId5">
              <a:alphaModFix amt="80000"/>
            </a:blip>
            <a:srcRect t="3727" r="17074" b="73696"/>
            <a:stretch/>
          </p:blipFill>
          <p:spPr>
            <a:xfrm rot="-3901096">
              <a:off x="-448599" y="392278"/>
              <a:ext cx="2201197" cy="7557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8"/>
          <p:cNvGrpSpPr/>
          <p:nvPr/>
        </p:nvGrpSpPr>
        <p:grpSpPr>
          <a:xfrm rot="-6815027">
            <a:off x="7092505" y="2935986"/>
            <a:ext cx="1614713" cy="3077196"/>
            <a:chOff x="-155336" y="-387066"/>
            <a:chExt cx="1614671" cy="3077116"/>
          </a:xfrm>
        </p:grpSpPr>
        <p:pic>
          <p:nvPicPr>
            <p:cNvPr id="295" name="Google Shape;295;p28"/>
            <p:cNvPicPr preferRelativeResize="0"/>
            <p:nvPr/>
          </p:nvPicPr>
          <p:blipFill rotWithShape="1">
            <a:blip r:embed="rId5">
              <a:alphaModFix amt="80000"/>
            </a:blip>
            <a:srcRect t="3727" r="17074" b="73696"/>
            <a:stretch/>
          </p:blipFill>
          <p:spPr>
            <a:xfrm rot="5400000">
              <a:off x="-686798" y="1211577"/>
              <a:ext cx="2201198" cy="755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8"/>
            <p:cNvPicPr preferRelativeResize="0"/>
            <p:nvPr/>
          </p:nvPicPr>
          <p:blipFill rotWithShape="1">
            <a:blip r:embed="rId5">
              <a:alphaModFix amt="80000"/>
            </a:blip>
            <a:srcRect t="3727" r="17074" b="73696"/>
            <a:stretch/>
          </p:blipFill>
          <p:spPr>
            <a:xfrm rot="-3901096">
              <a:off x="-448599" y="392278"/>
              <a:ext cx="2201197" cy="755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svg"/><Relationship Id="rId11" Type="http://schemas.openxmlformats.org/officeDocument/2006/relationships/image" Target="../media/image28.png"/><Relationship Id="rId5" Type="http://schemas.openxmlformats.org/officeDocument/2006/relationships/image" Target="../media/image14.png"/><Relationship Id="rId10" Type="http://schemas.openxmlformats.org/officeDocument/2006/relationships/image" Target="../media/image27.svg"/><Relationship Id="rId4" Type="http://schemas.openxmlformats.org/officeDocument/2006/relationships/image" Target="../media/image23.sv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38E57D4-ED56-11D5-649A-0F064183B4C1}"/>
              </a:ext>
            </a:extLst>
          </p:cNvPr>
          <p:cNvSpPr/>
          <p:nvPr/>
        </p:nvSpPr>
        <p:spPr>
          <a:xfrm>
            <a:off x="7719220" y="187872"/>
            <a:ext cx="1054668" cy="1013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Google Shape;307;p32"/>
          <p:cNvSpPr txBox="1">
            <a:spLocks noGrp="1"/>
          </p:cNvSpPr>
          <p:nvPr>
            <p:ph type="ctrTitle"/>
          </p:nvPr>
        </p:nvSpPr>
        <p:spPr>
          <a:xfrm>
            <a:off x="1620213" y="994703"/>
            <a:ext cx="5903574" cy="17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>
                <a:latin typeface="Bahnschrift SemiBold Condensed" panose="020B0502040204020203" pitchFamily="34" charset="0"/>
              </a:rPr>
              <a:t>Heart Disease Prediction</a:t>
            </a:r>
            <a:endParaRPr sz="5500" dirty="0">
              <a:latin typeface="Bahnschrift SemiBold Condensed" panose="020B0502040204020203" pitchFamily="34" charset="0"/>
            </a:endParaRPr>
          </a:p>
        </p:txBody>
      </p:sp>
      <p:sp>
        <p:nvSpPr>
          <p:cNvPr id="308" name="Google Shape;308;p32"/>
          <p:cNvSpPr txBox="1">
            <a:spLocks noGrp="1"/>
          </p:cNvSpPr>
          <p:nvPr>
            <p:ph type="subTitle" idx="1"/>
          </p:nvPr>
        </p:nvSpPr>
        <p:spPr>
          <a:xfrm>
            <a:off x="2199397" y="3209025"/>
            <a:ext cx="47454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Narrow" panose="020B0606020202030204" pitchFamily="34" charset="0"/>
              </a:rPr>
              <a:t>Data Mining </a:t>
            </a: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7EA16-1858-3F13-A27B-2C521C6BBD54}"/>
              </a:ext>
            </a:extLst>
          </p:cNvPr>
          <p:cNvSpPr txBox="1"/>
          <p:nvPr/>
        </p:nvSpPr>
        <p:spPr>
          <a:xfrm>
            <a:off x="3040743" y="3924625"/>
            <a:ext cx="3360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Presented by Yara Al Ghaddaf and Zeina Ali Ahmad</a:t>
            </a:r>
          </a:p>
        </p:txBody>
      </p:sp>
      <p:pic>
        <p:nvPicPr>
          <p:cNvPr id="4" name="Picture 3" descr="A blue and white circle with black text&#10;&#10;AI-generated content may be incorrect.">
            <a:extLst>
              <a:ext uri="{FF2B5EF4-FFF2-40B4-BE49-F238E27FC236}">
                <a16:creationId xmlns:a16="http://schemas.microsoft.com/office/drawing/2014/main" id="{73F796E1-894B-021D-506D-C8CBC7D0E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935" y="153003"/>
            <a:ext cx="1127237" cy="10832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>
            <a:spLocks noGrp="1"/>
          </p:cNvSpPr>
          <p:nvPr>
            <p:ph type="title"/>
          </p:nvPr>
        </p:nvSpPr>
        <p:spPr>
          <a:xfrm>
            <a:off x="720000" y="1858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latin typeface="Bahnschrift SemiBold Condensed" panose="020B0502040204020203" pitchFamily="34" charset="0"/>
              </a:rPr>
              <a:t>Content of our Presentation</a:t>
            </a:r>
            <a:endParaRPr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5"/>
          </p:nvPr>
        </p:nvSpPr>
        <p:spPr>
          <a:xfrm>
            <a:off x="1595368" y="1161039"/>
            <a:ext cx="9546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8" name="Google Shape;328;p34"/>
          <p:cNvSpPr txBox="1">
            <a:spLocks noGrp="1"/>
          </p:cNvSpPr>
          <p:nvPr>
            <p:ph type="title" idx="7"/>
          </p:nvPr>
        </p:nvSpPr>
        <p:spPr>
          <a:xfrm>
            <a:off x="4890593" y="1161039"/>
            <a:ext cx="9546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9" name="Google Shape;329;p34"/>
          <p:cNvSpPr txBox="1">
            <a:spLocks noGrp="1"/>
          </p:cNvSpPr>
          <p:nvPr>
            <p:ph type="title" idx="8"/>
          </p:nvPr>
        </p:nvSpPr>
        <p:spPr>
          <a:xfrm>
            <a:off x="4890593" y="3016085"/>
            <a:ext cx="9546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30" name="Google Shape;330;p34"/>
          <p:cNvSpPr txBox="1">
            <a:spLocks noGrp="1"/>
          </p:cNvSpPr>
          <p:nvPr>
            <p:ph type="title" idx="6"/>
          </p:nvPr>
        </p:nvSpPr>
        <p:spPr>
          <a:xfrm>
            <a:off x="1595368" y="3016085"/>
            <a:ext cx="9546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1" name="Google Shape;331;p34"/>
          <p:cNvSpPr txBox="1">
            <a:spLocks noGrp="1"/>
          </p:cNvSpPr>
          <p:nvPr>
            <p:ph type="subTitle" idx="9"/>
          </p:nvPr>
        </p:nvSpPr>
        <p:spPr>
          <a:xfrm>
            <a:off x="1595367" y="2406151"/>
            <a:ext cx="329522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Background + </a:t>
            </a:r>
          </a:p>
          <a:p>
            <a:pPr marL="0" lvl="0" indent="0"/>
            <a:r>
              <a:rPr lang="en-US" dirty="0"/>
              <a:t>Problem + </a:t>
            </a:r>
          </a:p>
          <a:p>
            <a:pPr marL="0" lvl="0" indent="0"/>
            <a:r>
              <a:rPr lang="en-US" dirty="0"/>
              <a:t>objectives</a:t>
            </a:r>
            <a:endParaRPr dirty="0"/>
          </a:p>
        </p:txBody>
      </p:sp>
      <p:sp>
        <p:nvSpPr>
          <p:cNvPr id="332" name="Google Shape;332;p34"/>
          <p:cNvSpPr txBox="1">
            <a:spLocks noGrp="1"/>
          </p:cNvSpPr>
          <p:nvPr>
            <p:ph type="subTitle" idx="13"/>
          </p:nvPr>
        </p:nvSpPr>
        <p:spPr>
          <a:xfrm>
            <a:off x="4890587" y="2079975"/>
            <a:ext cx="4434836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Understanding + Preprocessing</a:t>
            </a:r>
            <a:endParaRPr dirty="0"/>
          </a:p>
        </p:txBody>
      </p:sp>
      <p:sp>
        <p:nvSpPr>
          <p:cNvPr id="333" name="Google Shape;333;p34"/>
          <p:cNvSpPr txBox="1">
            <a:spLocks noGrp="1"/>
          </p:cNvSpPr>
          <p:nvPr>
            <p:ph type="subTitle" idx="14"/>
          </p:nvPr>
        </p:nvSpPr>
        <p:spPr>
          <a:xfrm>
            <a:off x="1595367" y="3982461"/>
            <a:ext cx="29193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ML Models + Methodology</a:t>
            </a:r>
            <a:endParaRPr dirty="0"/>
          </a:p>
        </p:txBody>
      </p:sp>
      <p:sp>
        <p:nvSpPr>
          <p:cNvPr id="334" name="Google Shape;334;p34"/>
          <p:cNvSpPr txBox="1">
            <a:spLocks noGrp="1"/>
          </p:cNvSpPr>
          <p:nvPr>
            <p:ph type="subTitle" idx="15"/>
          </p:nvPr>
        </p:nvSpPr>
        <p:spPr>
          <a:xfrm>
            <a:off x="4890591" y="3985772"/>
            <a:ext cx="29193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Evaluation + </a:t>
            </a:r>
          </a:p>
          <a:p>
            <a:pPr marL="0" lvl="0" indent="0"/>
            <a:r>
              <a:rPr lang="en-US" dirty="0"/>
              <a:t>Results + discussion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"/>
          <p:cNvSpPr/>
          <p:nvPr/>
        </p:nvSpPr>
        <p:spPr>
          <a:xfrm>
            <a:off x="4202557" y="2084413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9" name="Google Shape;369;p39"/>
          <p:cNvSpPr/>
          <p:nvPr/>
        </p:nvSpPr>
        <p:spPr>
          <a:xfrm>
            <a:off x="6749207" y="2084413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9"/>
          <p:cNvSpPr/>
          <p:nvPr/>
        </p:nvSpPr>
        <p:spPr>
          <a:xfrm>
            <a:off x="1655907" y="2084413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9"/>
          <p:cNvSpPr txBox="1">
            <a:spLocks noGrp="1"/>
          </p:cNvSpPr>
          <p:nvPr>
            <p:ph type="title"/>
          </p:nvPr>
        </p:nvSpPr>
        <p:spPr>
          <a:xfrm>
            <a:off x="692314" y="5393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latin typeface="Bahnschrift SemiBold SemiConden" panose="020B0502040204020203" pitchFamily="34" charset="0"/>
              </a:rPr>
              <a:t>Problem statement</a:t>
            </a:r>
            <a:endParaRPr sz="4000" dirty="0">
              <a:latin typeface="Bahnschrift SemiBold SemiConden" panose="020B0502040204020203" pitchFamily="34" charset="0"/>
            </a:endParaRPr>
          </a:p>
        </p:txBody>
      </p:sp>
      <p:sp>
        <p:nvSpPr>
          <p:cNvPr id="372" name="Google Shape;372;p39"/>
          <p:cNvSpPr txBox="1">
            <a:spLocks noGrp="1"/>
          </p:cNvSpPr>
          <p:nvPr>
            <p:ph type="subTitle" idx="1"/>
          </p:nvPr>
        </p:nvSpPr>
        <p:spPr>
          <a:xfrm>
            <a:off x="852895" y="3270750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Bahnschrift Light Condensed" panose="020B0502040204020203" pitchFamily="34" charset="0"/>
              </a:rPr>
              <a:t>Identify whether a person has heart disease based on medical features.</a:t>
            </a:r>
            <a:endParaRPr dirty="0">
              <a:latin typeface="Bahnschrift Light Condensed" panose="020B0502040204020203" pitchFamily="34" charset="0"/>
            </a:endParaRPr>
          </a:p>
        </p:txBody>
      </p:sp>
      <p:sp>
        <p:nvSpPr>
          <p:cNvPr id="373" name="Google Shape;373;p39"/>
          <p:cNvSpPr txBox="1">
            <a:spLocks noGrp="1"/>
          </p:cNvSpPr>
          <p:nvPr>
            <p:ph type="subTitle" idx="2"/>
          </p:nvPr>
        </p:nvSpPr>
        <p:spPr>
          <a:xfrm>
            <a:off x="3237759" y="3245508"/>
            <a:ext cx="2546725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Bahnschrift Light Condensed" panose="020B0502040204020203" pitchFamily="34" charset="0"/>
              </a:rPr>
              <a:t>Analyze clinical data to classify patients as “disease” or “no disease.”</a:t>
            </a:r>
          </a:p>
          <a:p>
            <a:pPr marL="0" lvl="0" indent="0"/>
            <a:r>
              <a:rPr lang="en-US" dirty="0">
                <a:latin typeface="Bahnschrift Light Condensed" panose="020B0502040204020203" pitchFamily="34" charset="0"/>
              </a:rPr>
              <a:t>Supervised learning and classification models</a:t>
            </a:r>
            <a:endParaRPr dirty="0">
              <a:latin typeface="Bahnschrift Light Condensed" panose="020B0502040204020203" pitchFamily="34" charset="0"/>
            </a:endParaRPr>
          </a:p>
        </p:txBody>
      </p:sp>
      <p:sp>
        <p:nvSpPr>
          <p:cNvPr id="374" name="Google Shape;374;p39"/>
          <p:cNvSpPr txBox="1">
            <a:spLocks noGrp="1"/>
          </p:cNvSpPr>
          <p:nvPr>
            <p:ph type="subTitle" idx="3"/>
          </p:nvPr>
        </p:nvSpPr>
        <p:spPr>
          <a:xfrm>
            <a:off x="5814892" y="3245508"/>
            <a:ext cx="2459657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Bahnschrift Light Condensed" panose="020B0502040204020203" pitchFamily="34" charset="0"/>
              </a:rPr>
              <a:t>Early prediction = better prognosis</a:t>
            </a:r>
          </a:p>
          <a:p>
            <a:pPr marL="0" lvl="0" indent="0"/>
            <a:r>
              <a:rPr lang="en-US" dirty="0">
                <a:latin typeface="Bahnschrift Light Condensed" panose="020B0502040204020203" pitchFamily="34" charset="0"/>
              </a:rPr>
              <a:t>Helps doctors make faster and accurate diagnostic decisions.</a:t>
            </a:r>
            <a:endParaRPr dirty="0">
              <a:latin typeface="Bahnschrift Light Condensed" panose="020B0502040204020203" pitchFamily="34" charset="0"/>
            </a:endParaRPr>
          </a:p>
        </p:txBody>
      </p:sp>
      <p:sp>
        <p:nvSpPr>
          <p:cNvPr id="375" name="Google Shape;375;p39"/>
          <p:cNvSpPr txBox="1">
            <a:spLocks noGrp="1"/>
          </p:cNvSpPr>
          <p:nvPr>
            <p:ph type="subTitle" idx="4"/>
          </p:nvPr>
        </p:nvSpPr>
        <p:spPr>
          <a:xfrm>
            <a:off x="843357" y="287655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Heart Disease</a:t>
            </a:r>
            <a:endParaRPr dirty="0"/>
          </a:p>
        </p:txBody>
      </p:sp>
      <p:sp>
        <p:nvSpPr>
          <p:cNvPr id="376" name="Google Shape;376;p39"/>
          <p:cNvSpPr txBox="1">
            <a:spLocks noGrp="1"/>
          </p:cNvSpPr>
          <p:nvPr>
            <p:ph type="subTitle" idx="5"/>
          </p:nvPr>
        </p:nvSpPr>
        <p:spPr>
          <a:xfrm>
            <a:off x="3423472" y="287655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 models</a:t>
            </a:r>
            <a:endParaRPr dirty="0"/>
          </a:p>
        </p:txBody>
      </p:sp>
      <p:sp>
        <p:nvSpPr>
          <p:cNvPr id="377" name="Google Shape;377;p39"/>
          <p:cNvSpPr txBox="1">
            <a:spLocks noGrp="1"/>
          </p:cNvSpPr>
          <p:nvPr>
            <p:ph type="subTitle" idx="6"/>
          </p:nvPr>
        </p:nvSpPr>
        <p:spPr>
          <a:xfrm>
            <a:off x="5936657" y="287655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Classification </a:t>
            </a:r>
            <a:endParaRPr dirty="0"/>
          </a:p>
        </p:txBody>
      </p:sp>
      <p:grpSp>
        <p:nvGrpSpPr>
          <p:cNvPr id="378" name="Google Shape;378;p39"/>
          <p:cNvGrpSpPr/>
          <p:nvPr/>
        </p:nvGrpSpPr>
        <p:grpSpPr>
          <a:xfrm>
            <a:off x="4354617" y="2199525"/>
            <a:ext cx="246091" cy="320006"/>
            <a:chOff x="3590155" y="2114000"/>
            <a:chExt cx="246091" cy="320006"/>
          </a:xfrm>
        </p:grpSpPr>
        <p:sp>
          <p:nvSpPr>
            <p:cNvPr id="379" name="Google Shape;379;p39"/>
            <p:cNvSpPr/>
            <p:nvPr/>
          </p:nvSpPr>
          <p:spPr>
            <a:xfrm>
              <a:off x="3590155" y="2114000"/>
              <a:ext cx="246091" cy="320006"/>
            </a:xfrm>
            <a:custGeom>
              <a:avLst/>
              <a:gdLst/>
              <a:ahLst/>
              <a:cxnLst/>
              <a:rect l="l" t="t" r="r" b="b"/>
              <a:pathLst>
                <a:path w="12908" h="16785" extrusionOk="0">
                  <a:moveTo>
                    <a:pt x="7733" y="501"/>
                  </a:moveTo>
                  <a:cubicBezTo>
                    <a:pt x="8025" y="501"/>
                    <a:pt x="8316" y="951"/>
                    <a:pt x="8316" y="1293"/>
                  </a:cubicBezTo>
                  <a:cubicBezTo>
                    <a:pt x="8316" y="1426"/>
                    <a:pt x="8449" y="1533"/>
                    <a:pt x="8576" y="1533"/>
                  </a:cubicBezTo>
                  <a:lnTo>
                    <a:pt x="9450" y="1533"/>
                  </a:lnTo>
                  <a:lnTo>
                    <a:pt x="9450" y="3142"/>
                  </a:lnTo>
                  <a:lnTo>
                    <a:pt x="3458" y="3142"/>
                  </a:lnTo>
                  <a:lnTo>
                    <a:pt x="3458" y="1533"/>
                  </a:lnTo>
                  <a:lnTo>
                    <a:pt x="4332" y="1533"/>
                  </a:lnTo>
                  <a:cubicBezTo>
                    <a:pt x="4459" y="1533"/>
                    <a:pt x="4592" y="1426"/>
                    <a:pt x="4592" y="1293"/>
                  </a:cubicBezTo>
                  <a:cubicBezTo>
                    <a:pt x="4592" y="951"/>
                    <a:pt x="4858" y="501"/>
                    <a:pt x="5175" y="501"/>
                  </a:cubicBezTo>
                  <a:close/>
                  <a:moveTo>
                    <a:pt x="5175" y="1"/>
                  </a:moveTo>
                  <a:cubicBezTo>
                    <a:pt x="4649" y="1"/>
                    <a:pt x="4225" y="526"/>
                    <a:pt x="4117" y="1058"/>
                  </a:cubicBezTo>
                  <a:lnTo>
                    <a:pt x="3224" y="1058"/>
                  </a:lnTo>
                  <a:cubicBezTo>
                    <a:pt x="3066" y="1058"/>
                    <a:pt x="2958" y="1160"/>
                    <a:pt x="2958" y="1293"/>
                  </a:cubicBezTo>
                  <a:lnTo>
                    <a:pt x="2958" y="1476"/>
                  </a:lnTo>
                  <a:lnTo>
                    <a:pt x="241" y="1476"/>
                  </a:lnTo>
                  <a:cubicBezTo>
                    <a:pt x="108" y="1476"/>
                    <a:pt x="0" y="1584"/>
                    <a:pt x="0" y="1717"/>
                  </a:cubicBezTo>
                  <a:lnTo>
                    <a:pt x="0" y="12718"/>
                  </a:lnTo>
                  <a:cubicBezTo>
                    <a:pt x="0" y="12851"/>
                    <a:pt x="108" y="12984"/>
                    <a:pt x="241" y="12984"/>
                  </a:cubicBezTo>
                  <a:cubicBezTo>
                    <a:pt x="374" y="12984"/>
                    <a:pt x="475" y="12851"/>
                    <a:pt x="475" y="12718"/>
                  </a:cubicBezTo>
                  <a:lnTo>
                    <a:pt x="475" y="1951"/>
                  </a:lnTo>
                  <a:lnTo>
                    <a:pt x="2958" y="1951"/>
                  </a:lnTo>
                  <a:lnTo>
                    <a:pt x="2958" y="2509"/>
                  </a:lnTo>
                  <a:lnTo>
                    <a:pt x="1641" y="2509"/>
                  </a:lnTo>
                  <a:cubicBezTo>
                    <a:pt x="1508" y="2509"/>
                    <a:pt x="1375" y="2642"/>
                    <a:pt x="1375" y="2775"/>
                  </a:cubicBezTo>
                  <a:lnTo>
                    <a:pt x="1375" y="4751"/>
                  </a:lnTo>
                  <a:cubicBezTo>
                    <a:pt x="1375" y="4884"/>
                    <a:pt x="1508" y="4992"/>
                    <a:pt x="1641" y="4992"/>
                  </a:cubicBezTo>
                  <a:cubicBezTo>
                    <a:pt x="1767" y="4992"/>
                    <a:pt x="1875" y="4884"/>
                    <a:pt x="1875" y="4751"/>
                  </a:cubicBezTo>
                  <a:lnTo>
                    <a:pt x="1875" y="3009"/>
                  </a:lnTo>
                  <a:lnTo>
                    <a:pt x="2958" y="3009"/>
                  </a:lnTo>
                  <a:lnTo>
                    <a:pt x="2958" y="3377"/>
                  </a:lnTo>
                  <a:cubicBezTo>
                    <a:pt x="2958" y="3510"/>
                    <a:pt x="3066" y="3643"/>
                    <a:pt x="3224" y="3643"/>
                  </a:cubicBezTo>
                  <a:lnTo>
                    <a:pt x="9684" y="3643"/>
                  </a:lnTo>
                  <a:cubicBezTo>
                    <a:pt x="9817" y="3643"/>
                    <a:pt x="9950" y="3510"/>
                    <a:pt x="9950" y="3377"/>
                  </a:cubicBezTo>
                  <a:lnTo>
                    <a:pt x="9950" y="3009"/>
                  </a:lnTo>
                  <a:lnTo>
                    <a:pt x="11033" y="3009"/>
                  </a:lnTo>
                  <a:lnTo>
                    <a:pt x="11033" y="8443"/>
                  </a:lnTo>
                  <a:cubicBezTo>
                    <a:pt x="11033" y="8576"/>
                    <a:pt x="11141" y="8684"/>
                    <a:pt x="11267" y="8684"/>
                  </a:cubicBezTo>
                  <a:cubicBezTo>
                    <a:pt x="11400" y="8684"/>
                    <a:pt x="11508" y="8576"/>
                    <a:pt x="11508" y="8443"/>
                  </a:cubicBezTo>
                  <a:lnTo>
                    <a:pt x="11508" y="2775"/>
                  </a:lnTo>
                  <a:cubicBezTo>
                    <a:pt x="11508" y="2642"/>
                    <a:pt x="11400" y="2509"/>
                    <a:pt x="11267" y="2509"/>
                  </a:cubicBezTo>
                  <a:lnTo>
                    <a:pt x="9950" y="2509"/>
                  </a:lnTo>
                  <a:lnTo>
                    <a:pt x="9950" y="1951"/>
                  </a:lnTo>
                  <a:lnTo>
                    <a:pt x="12407" y="1951"/>
                  </a:lnTo>
                  <a:lnTo>
                    <a:pt x="12407" y="16284"/>
                  </a:lnTo>
                  <a:lnTo>
                    <a:pt x="475" y="16284"/>
                  </a:lnTo>
                  <a:lnTo>
                    <a:pt x="475" y="13700"/>
                  </a:lnTo>
                  <a:cubicBezTo>
                    <a:pt x="475" y="13567"/>
                    <a:pt x="374" y="13459"/>
                    <a:pt x="241" y="13459"/>
                  </a:cubicBezTo>
                  <a:cubicBezTo>
                    <a:pt x="108" y="13459"/>
                    <a:pt x="0" y="13567"/>
                    <a:pt x="0" y="13700"/>
                  </a:cubicBezTo>
                  <a:lnTo>
                    <a:pt x="0" y="16550"/>
                  </a:lnTo>
                  <a:cubicBezTo>
                    <a:pt x="0" y="16677"/>
                    <a:pt x="108" y="16784"/>
                    <a:pt x="241" y="16784"/>
                  </a:cubicBezTo>
                  <a:lnTo>
                    <a:pt x="12667" y="16784"/>
                  </a:lnTo>
                  <a:cubicBezTo>
                    <a:pt x="12800" y="16784"/>
                    <a:pt x="12908" y="16677"/>
                    <a:pt x="12908" y="16550"/>
                  </a:cubicBezTo>
                  <a:lnTo>
                    <a:pt x="12908" y="1717"/>
                  </a:lnTo>
                  <a:cubicBezTo>
                    <a:pt x="12908" y="1584"/>
                    <a:pt x="12800" y="1476"/>
                    <a:pt x="12667" y="1476"/>
                  </a:cubicBezTo>
                  <a:lnTo>
                    <a:pt x="9950" y="1476"/>
                  </a:lnTo>
                  <a:lnTo>
                    <a:pt x="9950" y="1293"/>
                  </a:lnTo>
                  <a:cubicBezTo>
                    <a:pt x="9950" y="1160"/>
                    <a:pt x="9817" y="1058"/>
                    <a:pt x="9684" y="1058"/>
                  </a:cubicBezTo>
                  <a:lnTo>
                    <a:pt x="8791" y="1058"/>
                  </a:lnTo>
                  <a:cubicBezTo>
                    <a:pt x="8683" y="526"/>
                    <a:pt x="8259" y="1"/>
                    <a:pt x="7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9"/>
            <p:cNvSpPr/>
            <p:nvPr/>
          </p:nvSpPr>
          <p:spPr>
            <a:xfrm>
              <a:off x="3616350" y="2218686"/>
              <a:ext cx="193700" cy="187657"/>
            </a:xfrm>
            <a:custGeom>
              <a:avLst/>
              <a:gdLst/>
              <a:ahLst/>
              <a:cxnLst/>
              <a:rect l="l" t="t" r="r" b="b"/>
              <a:pathLst>
                <a:path w="10160" h="9843" extrusionOk="0">
                  <a:moveTo>
                    <a:pt x="267" y="1"/>
                  </a:moveTo>
                  <a:cubicBezTo>
                    <a:pt x="134" y="1"/>
                    <a:pt x="1" y="102"/>
                    <a:pt x="1" y="235"/>
                  </a:cubicBezTo>
                  <a:lnTo>
                    <a:pt x="1" y="9602"/>
                  </a:lnTo>
                  <a:cubicBezTo>
                    <a:pt x="1" y="9735"/>
                    <a:pt x="134" y="9843"/>
                    <a:pt x="267" y="9843"/>
                  </a:cubicBezTo>
                  <a:lnTo>
                    <a:pt x="9893" y="9843"/>
                  </a:lnTo>
                  <a:cubicBezTo>
                    <a:pt x="10026" y="9843"/>
                    <a:pt x="10159" y="9735"/>
                    <a:pt x="10159" y="9602"/>
                  </a:cubicBezTo>
                  <a:lnTo>
                    <a:pt x="10159" y="3934"/>
                  </a:lnTo>
                  <a:cubicBezTo>
                    <a:pt x="10159" y="3801"/>
                    <a:pt x="10026" y="3693"/>
                    <a:pt x="9893" y="3693"/>
                  </a:cubicBezTo>
                  <a:cubicBezTo>
                    <a:pt x="9767" y="3693"/>
                    <a:pt x="9659" y="3801"/>
                    <a:pt x="9659" y="3934"/>
                  </a:cubicBezTo>
                  <a:lnTo>
                    <a:pt x="9659" y="9343"/>
                  </a:lnTo>
                  <a:lnTo>
                    <a:pt x="501" y="9343"/>
                  </a:lnTo>
                  <a:lnTo>
                    <a:pt x="501" y="235"/>
                  </a:lnTo>
                  <a:cubicBezTo>
                    <a:pt x="501" y="102"/>
                    <a:pt x="393" y="1"/>
                    <a:pt x="2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9"/>
            <p:cNvSpPr/>
            <p:nvPr/>
          </p:nvSpPr>
          <p:spPr>
            <a:xfrm>
              <a:off x="3646530" y="2279065"/>
              <a:ext cx="133322" cy="9075"/>
            </a:xfrm>
            <a:custGeom>
              <a:avLst/>
              <a:gdLst/>
              <a:ahLst/>
              <a:cxnLst/>
              <a:rect l="l" t="t" r="r" b="b"/>
              <a:pathLst>
                <a:path w="6993" h="476" extrusionOk="0">
                  <a:moveTo>
                    <a:pt x="267" y="1"/>
                  </a:moveTo>
                  <a:cubicBezTo>
                    <a:pt x="109" y="1"/>
                    <a:pt x="1" y="102"/>
                    <a:pt x="1" y="235"/>
                  </a:cubicBezTo>
                  <a:cubicBezTo>
                    <a:pt x="1" y="368"/>
                    <a:pt x="109" y="476"/>
                    <a:pt x="267" y="476"/>
                  </a:cubicBezTo>
                  <a:lnTo>
                    <a:pt x="6727" y="476"/>
                  </a:lnTo>
                  <a:cubicBezTo>
                    <a:pt x="6860" y="476"/>
                    <a:pt x="6993" y="368"/>
                    <a:pt x="6993" y="235"/>
                  </a:cubicBezTo>
                  <a:cubicBezTo>
                    <a:pt x="6993" y="102"/>
                    <a:pt x="6860" y="1"/>
                    <a:pt x="67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9"/>
            <p:cNvSpPr/>
            <p:nvPr/>
          </p:nvSpPr>
          <p:spPr>
            <a:xfrm>
              <a:off x="3646530" y="2306232"/>
              <a:ext cx="133322" cy="9552"/>
            </a:xfrm>
            <a:custGeom>
              <a:avLst/>
              <a:gdLst/>
              <a:ahLst/>
              <a:cxnLst/>
              <a:rect l="l" t="t" r="r" b="b"/>
              <a:pathLst>
                <a:path w="6993" h="501" extrusionOk="0">
                  <a:moveTo>
                    <a:pt x="267" y="1"/>
                  </a:moveTo>
                  <a:cubicBezTo>
                    <a:pt x="109" y="1"/>
                    <a:pt x="1" y="134"/>
                    <a:pt x="1" y="260"/>
                  </a:cubicBezTo>
                  <a:cubicBezTo>
                    <a:pt x="1" y="393"/>
                    <a:pt x="109" y="501"/>
                    <a:pt x="267" y="501"/>
                  </a:cubicBezTo>
                  <a:lnTo>
                    <a:pt x="6727" y="501"/>
                  </a:lnTo>
                  <a:cubicBezTo>
                    <a:pt x="6860" y="501"/>
                    <a:pt x="6993" y="393"/>
                    <a:pt x="6993" y="260"/>
                  </a:cubicBezTo>
                  <a:cubicBezTo>
                    <a:pt x="6993" y="134"/>
                    <a:pt x="6860" y="1"/>
                    <a:pt x="67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9"/>
            <p:cNvSpPr/>
            <p:nvPr/>
          </p:nvSpPr>
          <p:spPr>
            <a:xfrm>
              <a:off x="3646530" y="2333876"/>
              <a:ext cx="133322" cy="9571"/>
            </a:xfrm>
            <a:custGeom>
              <a:avLst/>
              <a:gdLst/>
              <a:ahLst/>
              <a:cxnLst/>
              <a:rect l="l" t="t" r="r" b="b"/>
              <a:pathLst>
                <a:path w="6993" h="502" extrusionOk="0">
                  <a:moveTo>
                    <a:pt x="267" y="1"/>
                  </a:moveTo>
                  <a:cubicBezTo>
                    <a:pt x="109" y="1"/>
                    <a:pt x="1" y="109"/>
                    <a:pt x="1" y="235"/>
                  </a:cubicBezTo>
                  <a:cubicBezTo>
                    <a:pt x="1" y="368"/>
                    <a:pt x="109" y="501"/>
                    <a:pt x="267" y="501"/>
                  </a:cubicBezTo>
                  <a:lnTo>
                    <a:pt x="6727" y="501"/>
                  </a:lnTo>
                  <a:cubicBezTo>
                    <a:pt x="6860" y="501"/>
                    <a:pt x="6993" y="368"/>
                    <a:pt x="6993" y="235"/>
                  </a:cubicBezTo>
                  <a:cubicBezTo>
                    <a:pt x="6993" y="109"/>
                    <a:pt x="6860" y="1"/>
                    <a:pt x="67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3646530" y="2361540"/>
              <a:ext cx="86593" cy="9075"/>
            </a:xfrm>
            <a:custGeom>
              <a:avLst/>
              <a:gdLst/>
              <a:ahLst/>
              <a:cxnLst/>
              <a:rect l="l" t="t" r="r" b="b"/>
              <a:pathLst>
                <a:path w="4542" h="476" extrusionOk="0">
                  <a:moveTo>
                    <a:pt x="235" y="0"/>
                  </a:moveTo>
                  <a:cubicBezTo>
                    <a:pt x="109" y="0"/>
                    <a:pt x="1" y="108"/>
                    <a:pt x="1" y="241"/>
                  </a:cubicBezTo>
                  <a:cubicBezTo>
                    <a:pt x="1" y="368"/>
                    <a:pt x="109" y="475"/>
                    <a:pt x="235" y="475"/>
                  </a:cubicBezTo>
                  <a:lnTo>
                    <a:pt x="4301" y="475"/>
                  </a:lnTo>
                  <a:cubicBezTo>
                    <a:pt x="4434" y="475"/>
                    <a:pt x="4542" y="368"/>
                    <a:pt x="4542" y="241"/>
                  </a:cubicBezTo>
                  <a:cubicBezTo>
                    <a:pt x="4542" y="108"/>
                    <a:pt x="4434" y="0"/>
                    <a:pt x="4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9"/>
            <p:cNvSpPr/>
            <p:nvPr/>
          </p:nvSpPr>
          <p:spPr>
            <a:xfrm>
              <a:off x="3679742" y="2196475"/>
              <a:ext cx="66918" cy="67033"/>
            </a:xfrm>
            <a:custGeom>
              <a:avLst/>
              <a:gdLst/>
              <a:ahLst/>
              <a:cxnLst/>
              <a:rect l="l" t="t" r="r" b="b"/>
              <a:pathLst>
                <a:path w="3510" h="3516" extrusionOk="0">
                  <a:moveTo>
                    <a:pt x="2084" y="507"/>
                  </a:moveTo>
                  <a:lnTo>
                    <a:pt x="2084" y="1191"/>
                  </a:lnTo>
                  <a:cubicBezTo>
                    <a:pt x="2084" y="1324"/>
                    <a:pt x="2192" y="1426"/>
                    <a:pt x="2325" y="1426"/>
                  </a:cubicBezTo>
                  <a:lnTo>
                    <a:pt x="3009" y="1426"/>
                  </a:lnTo>
                  <a:lnTo>
                    <a:pt x="3009" y="2091"/>
                  </a:lnTo>
                  <a:lnTo>
                    <a:pt x="2325" y="2091"/>
                  </a:lnTo>
                  <a:cubicBezTo>
                    <a:pt x="2192" y="2091"/>
                    <a:pt x="2084" y="2192"/>
                    <a:pt x="2084" y="2325"/>
                  </a:cubicBezTo>
                  <a:lnTo>
                    <a:pt x="2084" y="3009"/>
                  </a:lnTo>
                  <a:lnTo>
                    <a:pt x="1426" y="3009"/>
                  </a:lnTo>
                  <a:lnTo>
                    <a:pt x="1426" y="2325"/>
                  </a:lnTo>
                  <a:cubicBezTo>
                    <a:pt x="1426" y="2192"/>
                    <a:pt x="1318" y="2091"/>
                    <a:pt x="1185" y="2091"/>
                  </a:cubicBezTo>
                  <a:lnTo>
                    <a:pt x="501" y="2091"/>
                  </a:lnTo>
                  <a:lnTo>
                    <a:pt x="501" y="1426"/>
                  </a:lnTo>
                  <a:lnTo>
                    <a:pt x="1185" y="1426"/>
                  </a:lnTo>
                  <a:cubicBezTo>
                    <a:pt x="1318" y="1426"/>
                    <a:pt x="1426" y="1324"/>
                    <a:pt x="1426" y="1191"/>
                  </a:cubicBezTo>
                  <a:lnTo>
                    <a:pt x="1426" y="507"/>
                  </a:lnTo>
                  <a:close/>
                  <a:moveTo>
                    <a:pt x="1400" y="1"/>
                  </a:moveTo>
                  <a:cubicBezTo>
                    <a:pt x="1134" y="1"/>
                    <a:pt x="951" y="216"/>
                    <a:pt x="951" y="450"/>
                  </a:cubicBezTo>
                  <a:lnTo>
                    <a:pt x="951" y="951"/>
                  </a:lnTo>
                  <a:lnTo>
                    <a:pt x="450" y="951"/>
                  </a:lnTo>
                  <a:cubicBezTo>
                    <a:pt x="210" y="951"/>
                    <a:pt x="1" y="1141"/>
                    <a:pt x="1" y="1400"/>
                  </a:cubicBezTo>
                  <a:lnTo>
                    <a:pt x="1" y="2116"/>
                  </a:lnTo>
                  <a:cubicBezTo>
                    <a:pt x="1" y="2376"/>
                    <a:pt x="210" y="2566"/>
                    <a:pt x="450" y="2566"/>
                  </a:cubicBezTo>
                  <a:lnTo>
                    <a:pt x="951" y="2566"/>
                  </a:lnTo>
                  <a:lnTo>
                    <a:pt x="951" y="3066"/>
                  </a:lnTo>
                  <a:cubicBezTo>
                    <a:pt x="951" y="3300"/>
                    <a:pt x="1134" y="3516"/>
                    <a:pt x="1400" y="3516"/>
                  </a:cubicBezTo>
                  <a:lnTo>
                    <a:pt x="2110" y="3516"/>
                  </a:lnTo>
                  <a:cubicBezTo>
                    <a:pt x="2376" y="3516"/>
                    <a:pt x="2559" y="3300"/>
                    <a:pt x="2559" y="3066"/>
                  </a:cubicBezTo>
                  <a:lnTo>
                    <a:pt x="2559" y="2566"/>
                  </a:lnTo>
                  <a:lnTo>
                    <a:pt x="3060" y="2566"/>
                  </a:lnTo>
                  <a:cubicBezTo>
                    <a:pt x="3300" y="2566"/>
                    <a:pt x="3509" y="2376"/>
                    <a:pt x="3509" y="2116"/>
                  </a:cubicBezTo>
                  <a:lnTo>
                    <a:pt x="3509" y="1400"/>
                  </a:lnTo>
                  <a:cubicBezTo>
                    <a:pt x="3509" y="1141"/>
                    <a:pt x="3300" y="951"/>
                    <a:pt x="3060" y="951"/>
                  </a:cubicBezTo>
                  <a:lnTo>
                    <a:pt x="2559" y="951"/>
                  </a:lnTo>
                  <a:lnTo>
                    <a:pt x="2559" y="450"/>
                  </a:lnTo>
                  <a:cubicBezTo>
                    <a:pt x="2559" y="216"/>
                    <a:pt x="2376" y="1"/>
                    <a:pt x="2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3692305" y="2129576"/>
              <a:ext cx="41790" cy="9571"/>
            </a:xfrm>
            <a:custGeom>
              <a:avLst/>
              <a:gdLst/>
              <a:ahLst/>
              <a:cxnLst/>
              <a:rect l="l" t="t" r="r" b="b"/>
              <a:pathLst>
                <a:path w="2192" h="502" extrusionOk="0">
                  <a:moveTo>
                    <a:pt x="241" y="1"/>
                  </a:moveTo>
                  <a:cubicBezTo>
                    <a:pt x="108" y="1"/>
                    <a:pt x="0" y="108"/>
                    <a:pt x="0" y="241"/>
                  </a:cubicBezTo>
                  <a:cubicBezTo>
                    <a:pt x="0" y="400"/>
                    <a:pt x="108" y="501"/>
                    <a:pt x="241" y="501"/>
                  </a:cubicBezTo>
                  <a:lnTo>
                    <a:pt x="1951" y="501"/>
                  </a:lnTo>
                  <a:cubicBezTo>
                    <a:pt x="2084" y="501"/>
                    <a:pt x="2192" y="400"/>
                    <a:pt x="2192" y="241"/>
                  </a:cubicBezTo>
                  <a:cubicBezTo>
                    <a:pt x="2192" y="108"/>
                    <a:pt x="2084" y="1"/>
                    <a:pt x="1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39"/>
          <p:cNvGrpSpPr/>
          <p:nvPr/>
        </p:nvGrpSpPr>
        <p:grpSpPr>
          <a:xfrm>
            <a:off x="1791666" y="2199524"/>
            <a:ext cx="278692" cy="320006"/>
            <a:chOff x="3012142" y="2850061"/>
            <a:chExt cx="278692" cy="320006"/>
          </a:xfrm>
        </p:grpSpPr>
        <p:sp>
          <p:nvSpPr>
            <p:cNvPr id="388" name="Google Shape;388;p39"/>
            <p:cNvSpPr/>
            <p:nvPr/>
          </p:nvSpPr>
          <p:spPr>
            <a:xfrm>
              <a:off x="3012142" y="2926493"/>
              <a:ext cx="278692" cy="243574"/>
            </a:xfrm>
            <a:custGeom>
              <a:avLst/>
              <a:gdLst/>
              <a:ahLst/>
              <a:cxnLst/>
              <a:rect l="l" t="t" r="r" b="b"/>
              <a:pathLst>
                <a:path w="14618" h="12776" extrusionOk="0">
                  <a:moveTo>
                    <a:pt x="3876" y="11426"/>
                  </a:moveTo>
                  <a:lnTo>
                    <a:pt x="3876" y="12275"/>
                  </a:lnTo>
                  <a:lnTo>
                    <a:pt x="1717" y="12275"/>
                  </a:lnTo>
                  <a:lnTo>
                    <a:pt x="1717" y="11426"/>
                  </a:lnTo>
                  <a:close/>
                  <a:moveTo>
                    <a:pt x="12958" y="11426"/>
                  </a:moveTo>
                  <a:lnTo>
                    <a:pt x="12958" y="12275"/>
                  </a:lnTo>
                  <a:lnTo>
                    <a:pt x="10792" y="12275"/>
                  </a:lnTo>
                  <a:lnTo>
                    <a:pt x="10792" y="11426"/>
                  </a:lnTo>
                  <a:close/>
                  <a:moveTo>
                    <a:pt x="260" y="1"/>
                  </a:moveTo>
                  <a:cubicBezTo>
                    <a:pt x="102" y="1"/>
                    <a:pt x="0" y="134"/>
                    <a:pt x="0" y="267"/>
                  </a:cubicBezTo>
                  <a:lnTo>
                    <a:pt x="0" y="11192"/>
                  </a:lnTo>
                  <a:cubicBezTo>
                    <a:pt x="0" y="11325"/>
                    <a:pt x="102" y="11426"/>
                    <a:pt x="260" y="11426"/>
                  </a:cubicBezTo>
                  <a:lnTo>
                    <a:pt x="1210" y="11426"/>
                  </a:lnTo>
                  <a:lnTo>
                    <a:pt x="1210" y="12509"/>
                  </a:lnTo>
                  <a:cubicBezTo>
                    <a:pt x="1210" y="12668"/>
                    <a:pt x="1318" y="12775"/>
                    <a:pt x="1476" y="12775"/>
                  </a:cubicBezTo>
                  <a:lnTo>
                    <a:pt x="4117" y="12775"/>
                  </a:lnTo>
                  <a:cubicBezTo>
                    <a:pt x="4250" y="12775"/>
                    <a:pt x="4377" y="12668"/>
                    <a:pt x="4377" y="12509"/>
                  </a:cubicBezTo>
                  <a:lnTo>
                    <a:pt x="4377" y="11426"/>
                  </a:lnTo>
                  <a:lnTo>
                    <a:pt x="10292" y="11426"/>
                  </a:lnTo>
                  <a:lnTo>
                    <a:pt x="10292" y="12509"/>
                  </a:lnTo>
                  <a:cubicBezTo>
                    <a:pt x="10292" y="12668"/>
                    <a:pt x="10425" y="12775"/>
                    <a:pt x="10552" y="12775"/>
                  </a:cubicBezTo>
                  <a:lnTo>
                    <a:pt x="13193" y="12775"/>
                  </a:lnTo>
                  <a:cubicBezTo>
                    <a:pt x="13326" y="12775"/>
                    <a:pt x="13459" y="12668"/>
                    <a:pt x="13459" y="12509"/>
                  </a:cubicBezTo>
                  <a:lnTo>
                    <a:pt x="13459" y="11426"/>
                  </a:lnTo>
                  <a:lnTo>
                    <a:pt x="14383" y="11426"/>
                  </a:lnTo>
                  <a:cubicBezTo>
                    <a:pt x="14510" y="11426"/>
                    <a:pt x="14618" y="11325"/>
                    <a:pt x="14618" y="11192"/>
                  </a:cubicBezTo>
                  <a:lnTo>
                    <a:pt x="14618" y="6784"/>
                  </a:lnTo>
                  <a:cubicBezTo>
                    <a:pt x="14618" y="6626"/>
                    <a:pt x="14510" y="6518"/>
                    <a:pt x="14383" y="6518"/>
                  </a:cubicBezTo>
                  <a:cubicBezTo>
                    <a:pt x="14250" y="6518"/>
                    <a:pt x="14143" y="6626"/>
                    <a:pt x="14143" y="6784"/>
                  </a:cubicBezTo>
                  <a:lnTo>
                    <a:pt x="14143" y="10951"/>
                  </a:lnTo>
                  <a:lnTo>
                    <a:pt x="501" y="10951"/>
                  </a:lnTo>
                  <a:lnTo>
                    <a:pt x="501" y="267"/>
                  </a:lnTo>
                  <a:cubicBezTo>
                    <a:pt x="501" y="134"/>
                    <a:pt x="393" y="1"/>
                    <a:pt x="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9"/>
            <p:cNvSpPr/>
            <p:nvPr/>
          </p:nvSpPr>
          <p:spPr>
            <a:xfrm>
              <a:off x="3012142" y="2850061"/>
              <a:ext cx="278692" cy="191660"/>
            </a:xfrm>
            <a:custGeom>
              <a:avLst/>
              <a:gdLst/>
              <a:ahLst/>
              <a:cxnLst/>
              <a:rect l="l" t="t" r="r" b="b"/>
              <a:pathLst>
                <a:path w="14618" h="10053" extrusionOk="0">
                  <a:moveTo>
                    <a:pt x="260" y="1"/>
                  </a:moveTo>
                  <a:cubicBezTo>
                    <a:pt x="102" y="1"/>
                    <a:pt x="0" y="109"/>
                    <a:pt x="0" y="267"/>
                  </a:cubicBezTo>
                  <a:lnTo>
                    <a:pt x="0" y="3275"/>
                  </a:lnTo>
                  <a:cubicBezTo>
                    <a:pt x="0" y="3402"/>
                    <a:pt x="102" y="3535"/>
                    <a:pt x="260" y="3535"/>
                  </a:cubicBezTo>
                  <a:cubicBezTo>
                    <a:pt x="393" y="3535"/>
                    <a:pt x="501" y="3402"/>
                    <a:pt x="501" y="3275"/>
                  </a:cubicBezTo>
                  <a:lnTo>
                    <a:pt x="501" y="501"/>
                  </a:lnTo>
                  <a:lnTo>
                    <a:pt x="14143" y="501"/>
                  </a:lnTo>
                  <a:lnTo>
                    <a:pt x="14143" y="9792"/>
                  </a:lnTo>
                  <a:cubicBezTo>
                    <a:pt x="14143" y="9925"/>
                    <a:pt x="14250" y="10052"/>
                    <a:pt x="14383" y="10052"/>
                  </a:cubicBezTo>
                  <a:cubicBezTo>
                    <a:pt x="14510" y="10052"/>
                    <a:pt x="14618" y="9925"/>
                    <a:pt x="14618" y="9792"/>
                  </a:cubicBezTo>
                  <a:lnTo>
                    <a:pt x="14618" y="267"/>
                  </a:lnTo>
                  <a:cubicBezTo>
                    <a:pt x="14618" y="109"/>
                    <a:pt x="14510" y="1"/>
                    <a:pt x="14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9"/>
            <p:cNvSpPr/>
            <p:nvPr/>
          </p:nvSpPr>
          <p:spPr>
            <a:xfrm>
              <a:off x="3043295" y="2885808"/>
              <a:ext cx="216883" cy="182586"/>
            </a:xfrm>
            <a:custGeom>
              <a:avLst/>
              <a:gdLst/>
              <a:ahLst/>
              <a:cxnLst/>
              <a:rect l="l" t="t" r="r" b="b"/>
              <a:pathLst>
                <a:path w="11376" h="9577" extrusionOk="0">
                  <a:moveTo>
                    <a:pt x="10875" y="501"/>
                  </a:moveTo>
                  <a:lnTo>
                    <a:pt x="10875" y="4510"/>
                  </a:lnTo>
                  <a:lnTo>
                    <a:pt x="9133" y="4510"/>
                  </a:lnTo>
                  <a:cubicBezTo>
                    <a:pt x="9266" y="4193"/>
                    <a:pt x="9317" y="3902"/>
                    <a:pt x="9317" y="3585"/>
                  </a:cubicBezTo>
                  <a:cubicBezTo>
                    <a:pt x="9342" y="2876"/>
                    <a:pt x="9025" y="2243"/>
                    <a:pt x="8392" y="1793"/>
                  </a:cubicBezTo>
                  <a:cubicBezTo>
                    <a:pt x="7965" y="1459"/>
                    <a:pt x="7551" y="1342"/>
                    <a:pt x="7181" y="1342"/>
                  </a:cubicBezTo>
                  <a:cubicBezTo>
                    <a:pt x="6822" y="1342"/>
                    <a:pt x="6504" y="1453"/>
                    <a:pt x="6258" y="1584"/>
                  </a:cubicBezTo>
                  <a:cubicBezTo>
                    <a:pt x="5966" y="1742"/>
                    <a:pt x="5751" y="1926"/>
                    <a:pt x="5593" y="2084"/>
                  </a:cubicBezTo>
                  <a:cubicBezTo>
                    <a:pt x="5314" y="1806"/>
                    <a:pt x="4732" y="1341"/>
                    <a:pt x="4000" y="1341"/>
                  </a:cubicBezTo>
                  <a:cubicBezTo>
                    <a:pt x="3901" y="1341"/>
                    <a:pt x="3798" y="1350"/>
                    <a:pt x="3693" y="1369"/>
                  </a:cubicBezTo>
                  <a:cubicBezTo>
                    <a:pt x="3566" y="1400"/>
                    <a:pt x="3458" y="1527"/>
                    <a:pt x="3484" y="1660"/>
                  </a:cubicBezTo>
                  <a:cubicBezTo>
                    <a:pt x="3506" y="1780"/>
                    <a:pt x="3617" y="1879"/>
                    <a:pt x="3735" y="1879"/>
                  </a:cubicBezTo>
                  <a:cubicBezTo>
                    <a:pt x="3749" y="1879"/>
                    <a:pt x="3762" y="1878"/>
                    <a:pt x="3775" y="1875"/>
                  </a:cubicBezTo>
                  <a:cubicBezTo>
                    <a:pt x="3854" y="1860"/>
                    <a:pt x="3932" y="1854"/>
                    <a:pt x="4007" y="1854"/>
                  </a:cubicBezTo>
                  <a:cubicBezTo>
                    <a:pt x="4741" y="1854"/>
                    <a:pt x="5315" y="2487"/>
                    <a:pt x="5384" y="2585"/>
                  </a:cubicBezTo>
                  <a:cubicBezTo>
                    <a:pt x="5434" y="2667"/>
                    <a:pt x="5517" y="2692"/>
                    <a:pt x="5593" y="2692"/>
                  </a:cubicBezTo>
                  <a:cubicBezTo>
                    <a:pt x="5675" y="2692"/>
                    <a:pt x="5751" y="2635"/>
                    <a:pt x="5808" y="2585"/>
                  </a:cubicBezTo>
                  <a:cubicBezTo>
                    <a:pt x="5859" y="2509"/>
                    <a:pt x="6125" y="2217"/>
                    <a:pt x="6492" y="2034"/>
                  </a:cubicBezTo>
                  <a:cubicBezTo>
                    <a:pt x="6728" y="1910"/>
                    <a:pt x="6959" y="1848"/>
                    <a:pt x="7187" y="1848"/>
                  </a:cubicBezTo>
                  <a:cubicBezTo>
                    <a:pt x="7495" y="1848"/>
                    <a:pt x="7798" y="1962"/>
                    <a:pt x="8101" y="2192"/>
                  </a:cubicBezTo>
                  <a:cubicBezTo>
                    <a:pt x="8601" y="2559"/>
                    <a:pt x="8842" y="3034"/>
                    <a:pt x="8842" y="3585"/>
                  </a:cubicBezTo>
                  <a:cubicBezTo>
                    <a:pt x="8816" y="3877"/>
                    <a:pt x="8734" y="4193"/>
                    <a:pt x="8601" y="4510"/>
                  </a:cubicBezTo>
                  <a:lnTo>
                    <a:pt x="7100" y="4510"/>
                  </a:lnTo>
                  <a:lnTo>
                    <a:pt x="6733" y="3693"/>
                  </a:lnTo>
                  <a:cubicBezTo>
                    <a:pt x="6676" y="3585"/>
                    <a:pt x="6574" y="3535"/>
                    <a:pt x="6492" y="3535"/>
                  </a:cubicBezTo>
                  <a:cubicBezTo>
                    <a:pt x="6384" y="3535"/>
                    <a:pt x="6308" y="3617"/>
                    <a:pt x="6258" y="3693"/>
                  </a:cubicBezTo>
                  <a:lnTo>
                    <a:pt x="5675" y="5169"/>
                  </a:lnTo>
                  <a:lnTo>
                    <a:pt x="5042" y="3142"/>
                  </a:lnTo>
                  <a:cubicBezTo>
                    <a:pt x="5016" y="3034"/>
                    <a:pt x="4934" y="2952"/>
                    <a:pt x="4833" y="2952"/>
                  </a:cubicBezTo>
                  <a:cubicBezTo>
                    <a:pt x="4725" y="2952"/>
                    <a:pt x="4617" y="3009"/>
                    <a:pt x="4592" y="3110"/>
                  </a:cubicBezTo>
                  <a:lnTo>
                    <a:pt x="4009" y="4510"/>
                  </a:lnTo>
                  <a:lnTo>
                    <a:pt x="2584" y="4510"/>
                  </a:lnTo>
                  <a:cubicBezTo>
                    <a:pt x="2458" y="4193"/>
                    <a:pt x="2375" y="3877"/>
                    <a:pt x="2350" y="3585"/>
                  </a:cubicBezTo>
                  <a:cubicBezTo>
                    <a:pt x="2350" y="3034"/>
                    <a:pt x="2584" y="2559"/>
                    <a:pt x="3091" y="2192"/>
                  </a:cubicBezTo>
                  <a:cubicBezTo>
                    <a:pt x="3192" y="2084"/>
                    <a:pt x="3218" y="1951"/>
                    <a:pt x="3142" y="1818"/>
                  </a:cubicBezTo>
                  <a:cubicBezTo>
                    <a:pt x="3095" y="1761"/>
                    <a:pt x="3024" y="1726"/>
                    <a:pt x="2953" y="1726"/>
                  </a:cubicBezTo>
                  <a:cubicBezTo>
                    <a:pt x="2898" y="1726"/>
                    <a:pt x="2844" y="1746"/>
                    <a:pt x="2800" y="1793"/>
                  </a:cubicBezTo>
                  <a:cubicBezTo>
                    <a:pt x="2166" y="2243"/>
                    <a:pt x="1850" y="2876"/>
                    <a:pt x="1875" y="3585"/>
                  </a:cubicBezTo>
                  <a:cubicBezTo>
                    <a:pt x="1875" y="3902"/>
                    <a:pt x="1926" y="4193"/>
                    <a:pt x="2059" y="4510"/>
                  </a:cubicBezTo>
                  <a:lnTo>
                    <a:pt x="475" y="4510"/>
                  </a:lnTo>
                  <a:lnTo>
                    <a:pt x="475" y="501"/>
                  </a:lnTo>
                  <a:close/>
                  <a:moveTo>
                    <a:pt x="4776" y="3934"/>
                  </a:moveTo>
                  <a:lnTo>
                    <a:pt x="5434" y="5992"/>
                  </a:lnTo>
                  <a:cubicBezTo>
                    <a:pt x="5466" y="6093"/>
                    <a:pt x="5542" y="6176"/>
                    <a:pt x="5650" y="6176"/>
                  </a:cubicBezTo>
                  <a:cubicBezTo>
                    <a:pt x="5751" y="6176"/>
                    <a:pt x="5859" y="6119"/>
                    <a:pt x="5884" y="6017"/>
                  </a:cubicBezTo>
                  <a:lnTo>
                    <a:pt x="6517" y="4409"/>
                  </a:lnTo>
                  <a:lnTo>
                    <a:pt x="6733" y="4852"/>
                  </a:lnTo>
                  <a:cubicBezTo>
                    <a:pt x="6758" y="4934"/>
                    <a:pt x="6859" y="5010"/>
                    <a:pt x="6942" y="5010"/>
                  </a:cubicBezTo>
                  <a:lnTo>
                    <a:pt x="8341" y="5010"/>
                  </a:lnTo>
                  <a:cubicBezTo>
                    <a:pt x="7809" y="5859"/>
                    <a:pt x="6891" y="6784"/>
                    <a:pt x="5593" y="7677"/>
                  </a:cubicBezTo>
                  <a:cubicBezTo>
                    <a:pt x="4301" y="6784"/>
                    <a:pt x="3376" y="5859"/>
                    <a:pt x="2850" y="5010"/>
                  </a:cubicBezTo>
                  <a:lnTo>
                    <a:pt x="4168" y="5010"/>
                  </a:lnTo>
                  <a:cubicBezTo>
                    <a:pt x="4275" y="5010"/>
                    <a:pt x="4358" y="4934"/>
                    <a:pt x="4408" y="4852"/>
                  </a:cubicBezTo>
                  <a:lnTo>
                    <a:pt x="4776" y="3934"/>
                  </a:lnTo>
                  <a:close/>
                  <a:moveTo>
                    <a:pt x="10875" y="5010"/>
                  </a:moveTo>
                  <a:lnTo>
                    <a:pt x="10875" y="9076"/>
                  </a:lnTo>
                  <a:lnTo>
                    <a:pt x="475" y="9076"/>
                  </a:lnTo>
                  <a:lnTo>
                    <a:pt x="475" y="5010"/>
                  </a:lnTo>
                  <a:lnTo>
                    <a:pt x="2268" y="5010"/>
                  </a:lnTo>
                  <a:cubicBezTo>
                    <a:pt x="2825" y="6017"/>
                    <a:pt x="3908" y="7126"/>
                    <a:pt x="5434" y="8152"/>
                  </a:cubicBezTo>
                  <a:cubicBezTo>
                    <a:pt x="5466" y="8177"/>
                    <a:pt x="5491" y="8177"/>
                    <a:pt x="5491" y="8209"/>
                  </a:cubicBezTo>
                  <a:lnTo>
                    <a:pt x="5593" y="8209"/>
                  </a:lnTo>
                  <a:cubicBezTo>
                    <a:pt x="5650" y="8209"/>
                    <a:pt x="5700" y="8209"/>
                    <a:pt x="5751" y="8152"/>
                  </a:cubicBezTo>
                  <a:cubicBezTo>
                    <a:pt x="7284" y="7100"/>
                    <a:pt x="8367" y="6017"/>
                    <a:pt x="8918" y="5010"/>
                  </a:cubicBezTo>
                  <a:close/>
                  <a:moveTo>
                    <a:pt x="241" y="1"/>
                  </a:moveTo>
                  <a:cubicBezTo>
                    <a:pt x="108" y="1"/>
                    <a:pt x="0" y="102"/>
                    <a:pt x="0" y="235"/>
                  </a:cubicBezTo>
                  <a:lnTo>
                    <a:pt x="0" y="9317"/>
                  </a:lnTo>
                  <a:cubicBezTo>
                    <a:pt x="0" y="9444"/>
                    <a:pt x="108" y="9577"/>
                    <a:pt x="241" y="9577"/>
                  </a:cubicBezTo>
                  <a:lnTo>
                    <a:pt x="11134" y="9577"/>
                  </a:lnTo>
                  <a:cubicBezTo>
                    <a:pt x="11267" y="9577"/>
                    <a:pt x="11375" y="9444"/>
                    <a:pt x="11375" y="9317"/>
                  </a:cubicBezTo>
                  <a:lnTo>
                    <a:pt x="11375" y="235"/>
                  </a:lnTo>
                  <a:cubicBezTo>
                    <a:pt x="11375" y="102"/>
                    <a:pt x="11267" y="1"/>
                    <a:pt x="11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3045830" y="3080462"/>
              <a:ext cx="39255" cy="39255"/>
            </a:xfrm>
            <a:custGeom>
              <a:avLst/>
              <a:gdLst/>
              <a:ahLst/>
              <a:cxnLst/>
              <a:rect l="l" t="t" r="r" b="b"/>
              <a:pathLst>
                <a:path w="2059" h="2059" extrusionOk="0">
                  <a:moveTo>
                    <a:pt x="1026" y="500"/>
                  </a:moveTo>
                  <a:cubicBezTo>
                    <a:pt x="1318" y="500"/>
                    <a:pt x="1558" y="741"/>
                    <a:pt x="1558" y="1032"/>
                  </a:cubicBezTo>
                  <a:cubicBezTo>
                    <a:pt x="1558" y="1324"/>
                    <a:pt x="1318" y="1558"/>
                    <a:pt x="1026" y="1558"/>
                  </a:cubicBezTo>
                  <a:cubicBezTo>
                    <a:pt x="741" y="1558"/>
                    <a:pt x="501" y="1324"/>
                    <a:pt x="501" y="1032"/>
                  </a:cubicBezTo>
                  <a:cubicBezTo>
                    <a:pt x="501" y="741"/>
                    <a:pt x="741" y="500"/>
                    <a:pt x="1026" y="500"/>
                  </a:cubicBezTo>
                  <a:close/>
                  <a:moveTo>
                    <a:pt x="1026" y="0"/>
                  </a:moveTo>
                  <a:cubicBezTo>
                    <a:pt x="450" y="0"/>
                    <a:pt x="0" y="450"/>
                    <a:pt x="0" y="1032"/>
                  </a:cubicBezTo>
                  <a:cubicBezTo>
                    <a:pt x="0" y="1583"/>
                    <a:pt x="450" y="2058"/>
                    <a:pt x="1026" y="2058"/>
                  </a:cubicBezTo>
                  <a:cubicBezTo>
                    <a:pt x="1584" y="2058"/>
                    <a:pt x="2059" y="1583"/>
                    <a:pt x="2059" y="1032"/>
                  </a:cubicBezTo>
                  <a:cubicBezTo>
                    <a:pt x="2059" y="450"/>
                    <a:pt x="1584" y="0"/>
                    <a:pt x="1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3145922" y="3085037"/>
              <a:ext cx="30199" cy="30218"/>
            </a:xfrm>
            <a:custGeom>
              <a:avLst/>
              <a:gdLst/>
              <a:ahLst/>
              <a:cxnLst/>
              <a:rect l="l" t="t" r="r" b="b"/>
              <a:pathLst>
                <a:path w="1584" h="1585" extrusionOk="0">
                  <a:moveTo>
                    <a:pt x="792" y="476"/>
                  </a:moveTo>
                  <a:cubicBezTo>
                    <a:pt x="976" y="476"/>
                    <a:pt x="1109" y="609"/>
                    <a:pt x="1109" y="792"/>
                  </a:cubicBezTo>
                  <a:cubicBezTo>
                    <a:pt x="1109" y="951"/>
                    <a:pt x="976" y="1084"/>
                    <a:pt x="792" y="1084"/>
                  </a:cubicBezTo>
                  <a:cubicBezTo>
                    <a:pt x="634" y="1084"/>
                    <a:pt x="501" y="951"/>
                    <a:pt x="501" y="792"/>
                  </a:cubicBezTo>
                  <a:cubicBezTo>
                    <a:pt x="501" y="609"/>
                    <a:pt x="634" y="476"/>
                    <a:pt x="792" y="476"/>
                  </a:cubicBezTo>
                  <a:close/>
                  <a:moveTo>
                    <a:pt x="792" y="1"/>
                  </a:moveTo>
                  <a:cubicBezTo>
                    <a:pt x="368" y="1"/>
                    <a:pt x="1" y="343"/>
                    <a:pt x="1" y="792"/>
                  </a:cubicBezTo>
                  <a:cubicBezTo>
                    <a:pt x="1" y="1210"/>
                    <a:pt x="368" y="1584"/>
                    <a:pt x="792" y="1584"/>
                  </a:cubicBezTo>
                  <a:cubicBezTo>
                    <a:pt x="1242" y="1584"/>
                    <a:pt x="1584" y="1210"/>
                    <a:pt x="1584" y="792"/>
                  </a:cubicBezTo>
                  <a:cubicBezTo>
                    <a:pt x="1584" y="343"/>
                    <a:pt x="1242" y="1"/>
                    <a:pt x="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3185157" y="3085037"/>
              <a:ext cx="30218" cy="30218"/>
            </a:xfrm>
            <a:custGeom>
              <a:avLst/>
              <a:gdLst/>
              <a:ahLst/>
              <a:cxnLst/>
              <a:rect l="l" t="t" r="r" b="b"/>
              <a:pathLst>
                <a:path w="1585" h="1585" extrusionOk="0">
                  <a:moveTo>
                    <a:pt x="793" y="476"/>
                  </a:moveTo>
                  <a:cubicBezTo>
                    <a:pt x="976" y="476"/>
                    <a:pt x="1109" y="609"/>
                    <a:pt x="1109" y="792"/>
                  </a:cubicBezTo>
                  <a:cubicBezTo>
                    <a:pt x="1109" y="951"/>
                    <a:pt x="976" y="1084"/>
                    <a:pt x="793" y="1084"/>
                  </a:cubicBezTo>
                  <a:cubicBezTo>
                    <a:pt x="634" y="1084"/>
                    <a:pt x="501" y="951"/>
                    <a:pt x="501" y="792"/>
                  </a:cubicBezTo>
                  <a:cubicBezTo>
                    <a:pt x="501" y="609"/>
                    <a:pt x="634" y="476"/>
                    <a:pt x="793" y="476"/>
                  </a:cubicBezTo>
                  <a:close/>
                  <a:moveTo>
                    <a:pt x="793" y="1"/>
                  </a:moveTo>
                  <a:cubicBezTo>
                    <a:pt x="368" y="1"/>
                    <a:pt x="1" y="343"/>
                    <a:pt x="1" y="792"/>
                  </a:cubicBezTo>
                  <a:cubicBezTo>
                    <a:pt x="1" y="1210"/>
                    <a:pt x="368" y="1584"/>
                    <a:pt x="793" y="1584"/>
                  </a:cubicBezTo>
                  <a:cubicBezTo>
                    <a:pt x="1242" y="1584"/>
                    <a:pt x="1584" y="1210"/>
                    <a:pt x="1584" y="792"/>
                  </a:cubicBezTo>
                  <a:cubicBezTo>
                    <a:pt x="1584" y="343"/>
                    <a:pt x="1242" y="1"/>
                    <a:pt x="7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3224412" y="3085037"/>
              <a:ext cx="30199" cy="30218"/>
            </a:xfrm>
            <a:custGeom>
              <a:avLst/>
              <a:gdLst/>
              <a:ahLst/>
              <a:cxnLst/>
              <a:rect l="l" t="t" r="r" b="b"/>
              <a:pathLst>
                <a:path w="1584" h="1585" extrusionOk="0">
                  <a:moveTo>
                    <a:pt x="792" y="476"/>
                  </a:moveTo>
                  <a:cubicBezTo>
                    <a:pt x="976" y="476"/>
                    <a:pt x="1109" y="609"/>
                    <a:pt x="1109" y="792"/>
                  </a:cubicBezTo>
                  <a:cubicBezTo>
                    <a:pt x="1109" y="951"/>
                    <a:pt x="976" y="1084"/>
                    <a:pt x="792" y="1084"/>
                  </a:cubicBezTo>
                  <a:cubicBezTo>
                    <a:pt x="634" y="1084"/>
                    <a:pt x="501" y="951"/>
                    <a:pt x="501" y="792"/>
                  </a:cubicBezTo>
                  <a:cubicBezTo>
                    <a:pt x="501" y="609"/>
                    <a:pt x="634" y="476"/>
                    <a:pt x="792" y="476"/>
                  </a:cubicBezTo>
                  <a:close/>
                  <a:moveTo>
                    <a:pt x="792" y="1"/>
                  </a:moveTo>
                  <a:cubicBezTo>
                    <a:pt x="368" y="1"/>
                    <a:pt x="0" y="343"/>
                    <a:pt x="0" y="792"/>
                  </a:cubicBezTo>
                  <a:cubicBezTo>
                    <a:pt x="0" y="1210"/>
                    <a:pt x="368" y="1584"/>
                    <a:pt x="792" y="1584"/>
                  </a:cubicBezTo>
                  <a:cubicBezTo>
                    <a:pt x="1242" y="1584"/>
                    <a:pt x="1584" y="1210"/>
                    <a:pt x="1584" y="792"/>
                  </a:cubicBezTo>
                  <a:cubicBezTo>
                    <a:pt x="1584" y="343"/>
                    <a:pt x="1242" y="1"/>
                    <a:pt x="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" name="Google Shape;395;p39"/>
          <p:cNvGrpSpPr/>
          <p:nvPr/>
        </p:nvGrpSpPr>
        <p:grpSpPr>
          <a:xfrm>
            <a:off x="6884966" y="2199769"/>
            <a:ext cx="319510" cy="319510"/>
            <a:chOff x="6940371" y="4289469"/>
            <a:chExt cx="319510" cy="319510"/>
          </a:xfrm>
        </p:grpSpPr>
        <p:sp>
          <p:nvSpPr>
            <p:cNvPr id="396" name="Google Shape;396;p39"/>
            <p:cNvSpPr/>
            <p:nvPr/>
          </p:nvSpPr>
          <p:spPr>
            <a:xfrm>
              <a:off x="6940371" y="4289469"/>
              <a:ext cx="319510" cy="319510"/>
            </a:xfrm>
            <a:custGeom>
              <a:avLst/>
              <a:gdLst/>
              <a:ahLst/>
              <a:cxnLst/>
              <a:rect l="l" t="t" r="r" b="b"/>
              <a:pathLst>
                <a:path w="16759" h="16759" extrusionOk="0">
                  <a:moveTo>
                    <a:pt x="8392" y="501"/>
                  </a:moveTo>
                  <a:cubicBezTo>
                    <a:pt x="10083" y="501"/>
                    <a:pt x="11451" y="1844"/>
                    <a:pt x="11451" y="3535"/>
                  </a:cubicBezTo>
                  <a:lnTo>
                    <a:pt x="11451" y="4776"/>
                  </a:lnTo>
                  <a:cubicBezTo>
                    <a:pt x="10875" y="4694"/>
                    <a:pt x="10343" y="4409"/>
                    <a:pt x="9925" y="3852"/>
                  </a:cubicBezTo>
                  <a:cubicBezTo>
                    <a:pt x="9551" y="3402"/>
                    <a:pt x="9393" y="2902"/>
                    <a:pt x="9393" y="2902"/>
                  </a:cubicBezTo>
                  <a:cubicBezTo>
                    <a:pt x="9342" y="2794"/>
                    <a:pt x="9266" y="2743"/>
                    <a:pt x="9159" y="2743"/>
                  </a:cubicBezTo>
                  <a:cubicBezTo>
                    <a:pt x="9051" y="2743"/>
                    <a:pt x="8950" y="2794"/>
                    <a:pt x="8918" y="2902"/>
                  </a:cubicBezTo>
                  <a:cubicBezTo>
                    <a:pt x="8392" y="4485"/>
                    <a:pt x="6068" y="4726"/>
                    <a:pt x="5333" y="4776"/>
                  </a:cubicBezTo>
                  <a:lnTo>
                    <a:pt x="5333" y="3535"/>
                  </a:lnTo>
                  <a:cubicBezTo>
                    <a:pt x="5333" y="1844"/>
                    <a:pt x="6676" y="501"/>
                    <a:pt x="8367" y="501"/>
                  </a:cubicBezTo>
                  <a:close/>
                  <a:moveTo>
                    <a:pt x="9159" y="3560"/>
                  </a:moveTo>
                  <a:cubicBezTo>
                    <a:pt x="9235" y="3744"/>
                    <a:pt x="9368" y="3959"/>
                    <a:pt x="9526" y="4143"/>
                  </a:cubicBezTo>
                  <a:cubicBezTo>
                    <a:pt x="10058" y="4802"/>
                    <a:pt x="10717" y="5201"/>
                    <a:pt x="11451" y="5251"/>
                  </a:cubicBezTo>
                  <a:lnTo>
                    <a:pt x="11451" y="7126"/>
                  </a:lnTo>
                  <a:cubicBezTo>
                    <a:pt x="11451" y="7892"/>
                    <a:pt x="11135" y="8627"/>
                    <a:pt x="10660" y="9159"/>
                  </a:cubicBezTo>
                  <a:cubicBezTo>
                    <a:pt x="10634" y="9159"/>
                    <a:pt x="10634" y="9184"/>
                    <a:pt x="10609" y="9184"/>
                  </a:cubicBezTo>
                  <a:cubicBezTo>
                    <a:pt x="10375" y="9444"/>
                    <a:pt x="10083" y="9685"/>
                    <a:pt x="9767" y="9843"/>
                  </a:cubicBezTo>
                  <a:lnTo>
                    <a:pt x="9741" y="9843"/>
                  </a:lnTo>
                  <a:cubicBezTo>
                    <a:pt x="9450" y="9976"/>
                    <a:pt x="9159" y="10077"/>
                    <a:pt x="8842" y="10134"/>
                  </a:cubicBezTo>
                  <a:lnTo>
                    <a:pt x="8658" y="10134"/>
                  </a:lnTo>
                  <a:lnTo>
                    <a:pt x="8633" y="10160"/>
                  </a:lnTo>
                  <a:lnTo>
                    <a:pt x="8126" y="10160"/>
                  </a:lnTo>
                  <a:cubicBezTo>
                    <a:pt x="8126" y="10134"/>
                    <a:pt x="8101" y="10134"/>
                    <a:pt x="8101" y="10134"/>
                  </a:cubicBezTo>
                  <a:lnTo>
                    <a:pt x="7943" y="10134"/>
                  </a:lnTo>
                  <a:cubicBezTo>
                    <a:pt x="7626" y="10077"/>
                    <a:pt x="7309" y="9976"/>
                    <a:pt x="7018" y="9843"/>
                  </a:cubicBezTo>
                  <a:lnTo>
                    <a:pt x="6993" y="9843"/>
                  </a:lnTo>
                  <a:cubicBezTo>
                    <a:pt x="6676" y="9685"/>
                    <a:pt x="6416" y="9444"/>
                    <a:pt x="6150" y="9184"/>
                  </a:cubicBezTo>
                  <a:lnTo>
                    <a:pt x="6125" y="9159"/>
                  </a:lnTo>
                  <a:cubicBezTo>
                    <a:pt x="5625" y="8627"/>
                    <a:pt x="5333" y="7892"/>
                    <a:pt x="5333" y="7126"/>
                  </a:cubicBezTo>
                  <a:lnTo>
                    <a:pt x="5333" y="5251"/>
                  </a:lnTo>
                  <a:cubicBezTo>
                    <a:pt x="5650" y="5251"/>
                    <a:pt x="6258" y="5201"/>
                    <a:pt x="6917" y="5011"/>
                  </a:cubicBezTo>
                  <a:cubicBezTo>
                    <a:pt x="7968" y="4726"/>
                    <a:pt x="8734" y="4251"/>
                    <a:pt x="9159" y="3560"/>
                  </a:cubicBezTo>
                  <a:close/>
                  <a:moveTo>
                    <a:pt x="7468" y="10527"/>
                  </a:moveTo>
                  <a:lnTo>
                    <a:pt x="7468" y="10527"/>
                  </a:lnTo>
                  <a:cubicBezTo>
                    <a:pt x="7759" y="10609"/>
                    <a:pt x="8050" y="10660"/>
                    <a:pt x="8367" y="10660"/>
                  </a:cubicBezTo>
                  <a:lnTo>
                    <a:pt x="8392" y="10660"/>
                  </a:lnTo>
                  <a:cubicBezTo>
                    <a:pt x="8709" y="10660"/>
                    <a:pt x="9000" y="10609"/>
                    <a:pt x="9292" y="10527"/>
                  </a:cubicBezTo>
                  <a:lnTo>
                    <a:pt x="9292" y="10527"/>
                  </a:lnTo>
                  <a:lnTo>
                    <a:pt x="8392" y="12136"/>
                  </a:lnTo>
                  <a:lnTo>
                    <a:pt x="7468" y="10527"/>
                  </a:lnTo>
                  <a:close/>
                  <a:moveTo>
                    <a:pt x="11008" y="12851"/>
                  </a:moveTo>
                  <a:cubicBezTo>
                    <a:pt x="11325" y="12851"/>
                    <a:pt x="11584" y="13117"/>
                    <a:pt x="11584" y="13459"/>
                  </a:cubicBezTo>
                  <a:cubicBezTo>
                    <a:pt x="11584" y="13776"/>
                    <a:pt x="11325" y="14036"/>
                    <a:pt x="11008" y="14036"/>
                  </a:cubicBezTo>
                  <a:cubicBezTo>
                    <a:pt x="10691" y="14036"/>
                    <a:pt x="10425" y="13776"/>
                    <a:pt x="10425" y="13459"/>
                  </a:cubicBezTo>
                  <a:cubicBezTo>
                    <a:pt x="10425" y="13117"/>
                    <a:pt x="10691" y="12851"/>
                    <a:pt x="11008" y="12851"/>
                  </a:cubicBezTo>
                  <a:close/>
                  <a:moveTo>
                    <a:pt x="8367" y="1"/>
                  </a:moveTo>
                  <a:cubicBezTo>
                    <a:pt x="6416" y="1"/>
                    <a:pt x="4833" y="1584"/>
                    <a:pt x="4833" y="3535"/>
                  </a:cubicBezTo>
                  <a:lnTo>
                    <a:pt x="4833" y="7126"/>
                  </a:lnTo>
                  <a:cubicBezTo>
                    <a:pt x="4833" y="7918"/>
                    <a:pt x="5093" y="8652"/>
                    <a:pt x="5568" y="9260"/>
                  </a:cubicBezTo>
                  <a:cubicBezTo>
                    <a:pt x="5226" y="9393"/>
                    <a:pt x="4700" y="9634"/>
                    <a:pt x="4143" y="9951"/>
                  </a:cubicBezTo>
                  <a:cubicBezTo>
                    <a:pt x="4041" y="10027"/>
                    <a:pt x="3984" y="10160"/>
                    <a:pt x="4041" y="10293"/>
                  </a:cubicBezTo>
                  <a:cubicBezTo>
                    <a:pt x="4092" y="10360"/>
                    <a:pt x="4179" y="10408"/>
                    <a:pt x="4264" y="10408"/>
                  </a:cubicBezTo>
                  <a:cubicBezTo>
                    <a:pt x="4306" y="10408"/>
                    <a:pt x="4347" y="10396"/>
                    <a:pt x="4383" y="10369"/>
                  </a:cubicBezTo>
                  <a:cubicBezTo>
                    <a:pt x="4909" y="10077"/>
                    <a:pt x="5384" y="9868"/>
                    <a:pt x="5701" y="9735"/>
                  </a:cubicBezTo>
                  <a:lnTo>
                    <a:pt x="5701" y="11293"/>
                  </a:lnTo>
                  <a:cubicBezTo>
                    <a:pt x="4884" y="11401"/>
                    <a:pt x="4250" y="12110"/>
                    <a:pt x="4250" y="12959"/>
                  </a:cubicBezTo>
                  <a:lnTo>
                    <a:pt x="4250" y="14511"/>
                  </a:lnTo>
                  <a:cubicBezTo>
                    <a:pt x="4250" y="14669"/>
                    <a:pt x="4358" y="14777"/>
                    <a:pt x="4485" y="14777"/>
                  </a:cubicBezTo>
                  <a:lnTo>
                    <a:pt x="5067" y="14777"/>
                  </a:lnTo>
                  <a:cubicBezTo>
                    <a:pt x="5200" y="14777"/>
                    <a:pt x="5308" y="14669"/>
                    <a:pt x="5308" y="14511"/>
                  </a:cubicBezTo>
                  <a:cubicBezTo>
                    <a:pt x="5308" y="14384"/>
                    <a:pt x="5200" y="14276"/>
                    <a:pt x="5067" y="14276"/>
                  </a:cubicBezTo>
                  <a:lnTo>
                    <a:pt x="4751" y="14276"/>
                  </a:lnTo>
                  <a:lnTo>
                    <a:pt x="4751" y="12959"/>
                  </a:lnTo>
                  <a:cubicBezTo>
                    <a:pt x="4751" y="12294"/>
                    <a:pt x="5276" y="11768"/>
                    <a:pt x="5941" y="11768"/>
                  </a:cubicBezTo>
                  <a:cubicBezTo>
                    <a:pt x="6600" y="11768"/>
                    <a:pt x="7151" y="12294"/>
                    <a:pt x="7151" y="12959"/>
                  </a:cubicBezTo>
                  <a:lnTo>
                    <a:pt x="7151" y="14276"/>
                  </a:lnTo>
                  <a:lnTo>
                    <a:pt x="6784" y="14276"/>
                  </a:lnTo>
                  <a:cubicBezTo>
                    <a:pt x="6651" y="14276"/>
                    <a:pt x="6543" y="14384"/>
                    <a:pt x="6543" y="14511"/>
                  </a:cubicBezTo>
                  <a:cubicBezTo>
                    <a:pt x="6543" y="14669"/>
                    <a:pt x="6651" y="14777"/>
                    <a:pt x="6784" y="14777"/>
                  </a:cubicBezTo>
                  <a:lnTo>
                    <a:pt x="7392" y="14777"/>
                  </a:lnTo>
                  <a:cubicBezTo>
                    <a:pt x="7525" y="14777"/>
                    <a:pt x="7626" y="14669"/>
                    <a:pt x="7626" y="14511"/>
                  </a:cubicBezTo>
                  <a:lnTo>
                    <a:pt x="7626" y="12959"/>
                  </a:lnTo>
                  <a:cubicBezTo>
                    <a:pt x="7626" y="12110"/>
                    <a:pt x="6993" y="11401"/>
                    <a:pt x="6176" y="11293"/>
                  </a:cubicBezTo>
                  <a:lnTo>
                    <a:pt x="6176" y="9894"/>
                  </a:lnTo>
                  <a:cubicBezTo>
                    <a:pt x="6359" y="10027"/>
                    <a:pt x="6543" y="10160"/>
                    <a:pt x="6733" y="10267"/>
                  </a:cubicBezTo>
                  <a:lnTo>
                    <a:pt x="8126" y="12693"/>
                  </a:lnTo>
                  <a:lnTo>
                    <a:pt x="8126" y="16284"/>
                  </a:lnTo>
                  <a:lnTo>
                    <a:pt x="3433" y="16284"/>
                  </a:lnTo>
                  <a:lnTo>
                    <a:pt x="3934" y="13276"/>
                  </a:lnTo>
                  <a:cubicBezTo>
                    <a:pt x="3959" y="13117"/>
                    <a:pt x="3851" y="13010"/>
                    <a:pt x="3725" y="12984"/>
                  </a:cubicBezTo>
                  <a:cubicBezTo>
                    <a:pt x="3707" y="12981"/>
                    <a:pt x="3690" y="12979"/>
                    <a:pt x="3674" y="12979"/>
                  </a:cubicBezTo>
                  <a:cubicBezTo>
                    <a:pt x="3560" y="12979"/>
                    <a:pt x="3459" y="13052"/>
                    <a:pt x="3459" y="13168"/>
                  </a:cubicBezTo>
                  <a:lnTo>
                    <a:pt x="2933" y="16284"/>
                  </a:lnTo>
                  <a:lnTo>
                    <a:pt x="609" y="16284"/>
                  </a:lnTo>
                  <a:cubicBezTo>
                    <a:pt x="875" y="15435"/>
                    <a:pt x="1635" y="13193"/>
                    <a:pt x="2350" y="12034"/>
                  </a:cubicBezTo>
                  <a:cubicBezTo>
                    <a:pt x="2585" y="11635"/>
                    <a:pt x="3060" y="11217"/>
                    <a:pt x="3693" y="10793"/>
                  </a:cubicBezTo>
                  <a:cubicBezTo>
                    <a:pt x="3801" y="10711"/>
                    <a:pt x="3826" y="10584"/>
                    <a:pt x="3750" y="10451"/>
                  </a:cubicBezTo>
                  <a:cubicBezTo>
                    <a:pt x="3715" y="10385"/>
                    <a:pt x="3642" y="10350"/>
                    <a:pt x="3562" y="10350"/>
                  </a:cubicBezTo>
                  <a:cubicBezTo>
                    <a:pt x="3511" y="10350"/>
                    <a:pt x="3457" y="10364"/>
                    <a:pt x="3408" y="10394"/>
                  </a:cubicBezTo>
                  <a:cubicBezTo>
                    <a:pt x="2718" y="10844"/>
                    <a:pt x="2217" y="11319"/>
                    <a:pt x="1926" y="11794"/>
                  </a:cubicBezTo>
                  <a:cubicBezTo>
                    <a:pt x="1033" y="13244"/>
                    <a:pt x="83" y="16309"/>
                    <a:pt x="26" y="16442"/>
                  </a:cubicBezTo>
                  <a:cubicBezTo>
                    <a:pt x="1" y="16518"/>
                    <a:pt x="26" y="16601"/>
                    <a:pt x="83" y="16651"/>
                  </a:cubicBezTo>
                  <a:cubicBezTo>
                    <a:pt x="108" y="16727"/>
                    <a:pt x="184" y="16759"/>
                    <a:pt x="267" y="16759"/>
                  </a:cubicBezTo>
                  <a:lnTo>
                    <a:pt x="11033" y="16759"/>
                  </a:lnTo>
                  <a:cubicBezTo>
                    <a:pt x="11166" y="16759"/>
                    <a:pt x="11268" y="16651"/>
                    <a:pt x="11268" y="16518"/>
                  </a:cubicBezTo>
                  <a:cubicBezTo>
                    <a:pt x="11268" y="16385"/>
                    <a:pt x="11166" y="16284"/>
                    <a:pt x="11033" y="16284"/>
                  </a:cubicBezTo>
                  <a:lnTo>
                    <a:pt x="8633" y="16284"/>
                  </a:lnTo>
                  <a:lnTo>
                    <a:pt x="8633" y="12693"/>
                  </a:lnTo>
                  <a:lnTo>
                    <a:pt x="10026" y="10267"/>
                  </a:lnTo>
                  <a:cubicBezTo>
                    <a:pt x="10267" y="10134"/>
                    <a:pt x="10501" y="9976"/>
                    <a:pt x="10717" y="9792"/>
                  </a:cubicBezTo>
                  <a:lnTo>
                    <a:pt x="10717" y="12402"/>
                  </a:lnTo>
                  <a:cubicBezTo>
                    <a:pt x="10267" y="12535"/>
                    <a:pt x="9925" y="12959"/>
                    <a:pt x="9925" y="13459"/>
                  </a:cubicBezTo>
                  <a:cubicBezTo>
                    <a:pt x="9925" y="14036"/>
                    <a:pt x="10425" y="14511"/>
                    <a:pt x="11008" y="14511"/>
                  </a:cubicBezTo>
                  <a:cubicBezTo>
                    <a:pt x="11610" y="14511"/>
                    <a:pt x="12085" y="14036"/>
                    <a:pt x="12085" y="13459"/>
                  </a:cubicBezTo>
                  <a:cubicBezTo>
                    <a:pt x="12085" y="12927"/>
                    <a:pt x="11717" y="12484"/>
                    <a:pt x="11217" y="12402"/>
                  </a:cubicBezTo>
                  <a:lnTo>
                    <a:pt x="11217" y="9792"/>
                  </a:lnTo>
                  <a:cubicBezTo>
                    <a:pt x="11508" y="9919"/>
                    <a:pt x="11901" y="10109"/>
                    <a:pt x="12300" y="10343"/>
                  </a:cubicBezTo>
                  <a:cubicBezTo>
                    <a:pt x="13351" y="10901"/>
                    <a:pt x="14067" y="11502"/>
                    <a:pt x="14409" y="12034"/>
                  </a:cubicBezTo>
                  <a:cubicBezTo>
                    <a:pt x="15125" y="13193"/>
                    <a:pt x="15885" y="15435"/>
                    <a:pt x="16176" y="16284"/>
                  </a:cubicBezTo>
                  <a:lnTo>
                    <a:pt x="13826" y="16284"/>
                  </a:lnTo>
                  <a:lnTo>
                    <a:pt x="13301" y="13168"/>
                  </a:lnTo>
                  <a:cubicBezTo>
                    <a:pt x="13279" y="13052"/>
                    <a:pt x="13175" y="12979"/>
                    <a:pt x="13060" y="12979"/>
                  </a:cubicBezTo>
                  <a:cubicBezTo>
                    <a:pt x="13044" y="12979"/>
                    <a:pt x="13026" y="12981"/>
                    <a:pt x="13009" y="12984"/>
                  </a:cubicBezTo>
                  <a:cubicBezTo>
                    <a:pt x="12876" y="13010"/>
                    <a:pt x="12800" y="13117"/>
                    <a:pt x="12826" y="13276"/>
                  </a:cubicBezTo>
                  <a:lnTo>
                    <a:pt x="13326" y="16284"/>
                  </a:lnTo>
                  <a:lnTo>
                    <a:pt x="12009" y="16284"/>
                  </a:lnTo>
                  <a:cubicBezTo>
                    <a:pt x="11876" y="16284"/>
                    <a:pt x="11768" y="16385"/>
                    <a:pt x="11768" y="16518"/>
                  </a:cubicBezTo>
                  <a:cubicBezTo>
                    <a:pt x="11768" y="16651"/>
                    <a:pt x="11876" y="16759"/>
                    <a:pt x="12009" y="16759"/>
                  </a:cubicBezTo>
                  <a:lnTo>
                    <a:pt x="16493" y="16759"/>
                  </a:lnTo>
                  <a:cubicBezTo>
                    <a:pt x="16575" y="16759"/>
                    <a:pt x="16651" y="16727"/>
                    <a:pt x="16708" y="16651"/>
                  </a:cubicBezTo>
                  <a:cubicBezTo>
                    <a:pt x="16759" y="16601"/>
                    <a:pt x="16759" y="16518"/>
                    <a:pt x="16733" y="16442"/>
                  </a:cubicBezTo>
                  <a:cubicBezTo>
                    <a:pt x="16708" y="16309"/>
                    <a:pt x="15726" y="13244"/>
                    <a:pt x="14833" y="11794"/>
                  </a:cubicBezTo>
                  <a:cubicBezTo>
                    <a:pt x="14434" y="11160"/>
                    <a:pt x="13668" y="10527"/>
                    <a:pt x="12534" y="9894"/>
                  </a:cubicBezTo>
                  <a:cubicBezTo>
                    <a:pt x="12009" y="9602"/>
                    <a:pt x="11508" y="9393"/>
                    <a:pt x="11217" y="9260"/>
                  </a:cubicBezTo>
                  <a:cubicBezTo>
                    <a:pt x="11667" y="8652"/>
                    <a:pt x="11926" y="7918"/>
                    <a:pt x="11926" y="7126"/>
                  </a:cubicBezTo>
                  <a:lnTo>
                    <a:pt x="11926" y="3535"/>
                  </a:lnTo>
                  <a:cubicBezTo>
                    <a:pt x="11926" y="1584"/>
                    <a:pt x="10343" y="1"/>
                    <a:pt x="8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7119430" y="4570697"/>
              <a:ext cx="56890" cy="9075"/>
            </a:xfrm>
            <a:custGeom>
              <a:avLst/>
              <a:gdLst/>
              <a:ahLst/>
              <a:cxnLst/>
              <a:rect l="l" t="t" r="r" b="b"/>
              <a:pathLst>
                <a:path w="2984" h="476" extrusionOk="0">
                  <a:moveTo>
                    <a:pt x="242" y="0"/>
                  </a:moveTo>
                  <a:cubicBezTo>
                    <a:pt x="109" y="0"/>
                    <a:pt x="1" y="108"/>
                    <a:pt x="1" y="235"/>
                  </a:cubicBezTo>
                  <a:cubicBezTo>
                    <a:pt x="1" y="368"/>
                    <a:pt x="109" y="475"/>
                    <a:pt x="242" y="475"/>
                  </a:cubicBezTo>
                  <a:lnTo>
                    <a:pt x="2750" y="475"/>
                  </a:lnTo>
                  <a:cubicBezTo>
                    <a:pt x="2883" y="475"/>
                    <a:pt x="2984" y="368"/>
                    <a:pt x="2984" y="235"/>
                  </a:cubicBezTo>
                  <a:cubicBezTo>
                    <a:pt x="2984" y="108"/>
                    <a:pt x="2883" y="0"/>
                    <a:pt x="2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5"/>
          <p:cNvSpPr txBox="1">
            <a:spLocks noGrp="1"/>
          </p:cNvSpPr>
          <p:nvPr>
            <p:ph type="subTitle" idx="1"/>
          </p:nvPr>
        </p:nvSpPr>
        <p:spPr>
          <a:xfrm>
            <a:off x="2415625" y="1309223"/>
            <a:ext cx="4312800" cy="768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800" dirty="0">
                <a:latin typeface="Bahnschrift Condensed" panose="020B0502040204020203" pitchFamily="34" charset="0"/>
              </a:rPr>
              <a:t>Process of extracting useful patterns from large datasets</a:t>
            </a:r>
            <a:endParaRPr sz="1800" dirty="0">
              <a:latin typeface="Bahnschrift Condensed" panose="020B0502040204020203" pitchFamily="34" charset="0"/>
            </a:endParaRPr>
          </a:p>
        </p:txBody>
      </p:sp>
      <p:sp>
        <p:nvSpPr>
          <p:cNvPr id="492" name="Google Shape;492;p45"/>
          <p:cNvSpPr txBox="1">
            <a:spLocks noGrp="1"/>
          </p:cNvSpPr>
          <p:nvPr>
            <p:ph type="title"/>
          </p:nvPr>
        </p:nvSpPr>
        <p:spPr>
          <a:xfrm>
            <a:off x="1233187" y="241197"/>
            <a:ext cx="6677625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Background : Data Mining</a:t>
            </a:r>
            <a:endParaRPr sz="3500" dirty="0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494" name="Google Shape;494;p45"/>
          <p:cNvSpPr txBox="1">
            <a:spLocks noGrp="1"/>
          </p:cNvSpPr>
          <p:nvPr>
            <p:ph type="subTitle" idx="3"/>
          </p:nvPr>
        </p:nvSpPr>
        <p:spPr>
          <a:xfrm>
            <a:off x="2415625" y="2722711"/>
            <a:ext cx="4312800" cy="768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800" dirty="0">
                <a:latin typeface="Bahnschrift Condensed" panose="020B0502040204020203" pitchFamily="34" charset="0"/>
              </a:rPr>
              <a:t>Involves exploration, preprocessing, modeling, and evaluation</a:t>
            </a:r>
            <a:endParaRPr sz="1800" dirty="0">
              <a:latin typeface="Bahnschrift Condensed" panose="020B0502040204020203" pitchFamily="34" charset="0"/>
            </a:endParaRPr>
          </a:p>
        </p:txBody>
      </p:sp>
      <p:sp>
        <p:nvSpPr>
          <p:cNvPr id="496" name="Google Shape;496;p45"/>
          <p:cNvSpPr txBox="1">
            <a:spLocks noGrp="1"/>
          </p:cNvSpPr>
          <p:nvPr>
            <p:ph type="subTitle" idx="5"/>
          </p:nvPr>
        </p:nvSpPr>
        <p:spPr>
          <a:xfrm>
            <a:off x="2415625" y="4136200"/>
            <a:ext cx="43128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Bahnschrift Condensed" panose="020B0502040204020203" pitchFamily="34" charset="0"/>
              </a:rPr>
              <a:t>Crucial in decision-making </a:t>
            </a:r>
            <a:endParaRPr sz="1800" dirty="0">
              <a:latin typeface="Bahnschrift Condensed" panose="020B0502040204020203" pitchFamily="34" charset="0"/>
            </a:endParaRPr>
          </a:p>
        </p:txBody>
      </p:sp>
      <p:pic>
        <p:nvPicPr>
          <p:cNvPr id="5" name="Graphic 4" descr="Diamond with solid fill">
            <a:extLst>
              <a:ext uri="{FF2B5EF4-FFF2-40B4-BE49-F238E27FC236}">
                <a16:creationId xmlns:a16="http://schemas.microsoft.com/office/drawing/2014/main" id="{62FB0085-A723-3F23-AA85-4DA0A633B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8636" y="2119870"/>
            <a:ext cx="586726" cy="586726"/>
          </a:xfrm>
          <a:prstGeom prst="rect">
            <a:avLst/>
          </a:prstGeom>
        </p:spPr>
      </p:pic>
      <p:pic>
        <p:nvPicPr>
          <p:cNvPr id="9" name="Graphic 8" descr="Fork In Road with solid fill">
            <a:extLst>
              <a:ext uri="{FF2B5EF4-FFF2-40B4-BE49-F238E27FC236}">
                <a16:creationId xmlns:a16="http://schemas.microsoft.com/office/drawing/2014/main" id="{F75AE60E-0C5A-235C-8440-28DBDC421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6005" y="3566747"/>
            <a:ext cx="511589" cy="5115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0"/>
          <p:cNvSpPr txBox="1">
            <a:spLocks noGrp="1"/>
          </p:cNvSpPr>
          <p:nvPr>
            <p:ph type="title"/>
          </p:nvPr>
        </p:nvSpPr>
        <p:spPr>
          <a:xfrm>
            <a:off x="704141" y="5023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 SemiBold SemiConden" panose="020B0502040204020203" pitchFamily="34" charset="0"/>
              </a:rPr>
              <a:t>Background : Machine Learning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529" name="Google Shape;529;p50"/>
          <p:cNvSpPr/>
          <p:nvPr/>
        </p:nvSpPr>
        <p:spPr>
          <a:xfrm>
            <a:off x="3346525" y="3491013"/>
            <a:ext cx="24510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Bahnschrift Condensed" panose="020B0502040204020203" pitchFamily="34" charset="0"/>
                <a:ea typeface="Arimo"/>
                <a:cs typeface="Arimo"/>
                <a:sym typeface="Arimo"/>
              </a:rPr>
              <a:t>Predict continuous Values</a:t>
            </a:r>
            <a:endParaRPr sz="1600" dirty="0">
              <a:solidFill>
                <a:schemeClr val="dk1"/>
              </a:solidFill>
              <a:latin typeface="Bahnschrift Condensed" panose="020B0502040204020203" pitchFamily="34" charset="0"/>
              <a:ea typeface="Arimo"/>
              <a:cs typeface="Arimo"/>
              <a:sym typeface="Arimo"/>
            </a:endParaRPr>
          </a:p>
        </p:txBody>
      </p:sp>
      <p:sp>
        <p:nvSpPr>
          <p:cNvPr id="530" name="Google Shape;530;p50"/>
          <p:cNvSpPr/>
          <p:nvPr/>
        </p:nvSpPr>
        <p:spPr>
          <a:xfrm>
            <a:off x="720000" y="3491013"/>
            <a:ext cx="2451000" cy="503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Bahnschrift Condensed" panose="020B0502040204020203" pitchFamily="34" charset="0"/>
                <a:ea typeface="Arimo"/>
                <a:cs typeface="Arimo"/>
                <a:sym typeface="Arimo"/>
              </a:rPr>
              <a:t>Predict Categories</a:t>
            </a:r>
            <a:endParaRPr sz="1600" dirty="0">
              <a:solidFill>
                <a:schemeClr val="dk1"/>
              </a:solidFill>
              <a:latin typeface="Bahnschrift Condensed" panose="020B0502040204020203" pitchFamily="34" charset="0"/>
              <a:ea typeface="Arimo"/>
              <a:cs typeface="Arimo"/>
              <a:sym typeface="Arimo"/>
            </a:endParaRPr>
          </a:p>
        </p:txBody>
      </p:sp>
      <p:sp>
        <p:nvSpPr>
          <p:cNvPr id="531" name="Google Shape;531;p50"/>
          <p:cNvSpPr/>
          <p:nvPr/>
        </p:nvSpPr>
        <p:spPr>
          <a:xfrm>
            <a:off x="5973051" y="3491013"/>
            <a:ext cx="24510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Bahnschrift Condensed" panose="020B0502040204020203" pitchFamily="34" charset="0"/>
                <a:ea typeface="Arimo"/>
                <a:cs typeface="Arimo"/>
                <a:sym typeface="Arimo"/>
              </a:rPr>
              <a:t>Group similar unlabeled data</a:t>
            </a:r>
            <a:endParaRPr sz="1600" dirty="0">
              <a:solidFill>
                <a:schemeClr val="dk1"/>
              </a:solidFill>
              <a:latin typeface="Bahnschrift Condensed" panose="020B0502040204020203" pitchFamily="34" charset="0"/>
              <a:ea typeface="Arimo"/>
              <a:cs typeface="Arimo"/>
              <a:sym typeface="Arimo"/>
            </a:endParaRPr>
          </a:p>
        </p:txBody>
      </p:sp>
      <p:cxnSp>
        <p:nvCxnSpPr>
          <p:cNvPr id="532" name="Google Shape;532;p50"/>
          <p:cNvCxnSpPr>
            <a:cxnSpLocks/>
            <a:endCxn id="533" idx="0"/>
          </p:cNvCxnSpPr>
          <p:nvPr/>
        </p:nvCxnSpPr>
        <p:spPr>
          <a:xfrm rot="5400000">
            <a:off x="3057300" y="616900"/>
            <a:ext cx="402900" cy="26265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50"/>
          <p:cNvCxnSpPr>
            <a:cxnSpLocks/>
            <a:endCxn id="535" idx="0"/>
          </p:cNvCxnSpPr>
          <p:nvPr/>
        </p:nvCxnSpPr>
        <p:spPr>
          <a:xfrm rot="-5400000" flipH="1">
            <a:off x="4370775" y="1927425"/>
            <a:ext cx="402900" cy="6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50"/>
          <p:cNvCxnSpPr>
            <a:cxnSpLocks/>
            <a:endCxn id="537" idx="0"/>
          </p:cNvCxnSpPr>
          <p:nvPr/>
        </p:nvCxnSpPr>
        <p:spPr>
          <a:xfrm rot="-5400000" flipH="1">
            <a:off x="5683725" y="614475"/>
            <a:ext cx="402900" cy="26265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8" name="Google Shape;538;p50"/>
          <p:cNvSpPr txBox="1"/>
          <p:nvPr/>
        </p:nvSpPr>
        <p:spPr>
          <a:xfrm>
            <a:off x="704141" y="2503175"/>
            <a:ext cx="24510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Classification </a:t>
            </a:r>
            <a:endParaRPr sz="2000" b="1" dirty="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39" name="Google Shape;539;p50"/>
          <p:cNvSpPr txBox="1"/>
          <p:nvPr/>
        </p:nvSpPr>
        <p:spPr>
          <a:xfrm>
            <a:off x="3346525" y="2485340"/>
            <a:ext cx="24510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Regression</a:t>
            </a:r>
            <a:endParaRPr sz="2000" b="1" dirty="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40" name="Google Shape;540;p50"/>
          <p:cNvSpPr txBox="1"/>
          <p:nvPr/>
        </p:nvSpPr>
        <p:spPr>
          <a:xfrm>
            <a:off x="5973051" y="2503175"/>
            <a:ext cx="24510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Clustering</a:t>
            </a:r>
            <a:endParaRPr sz="2000" b="1" dirty="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33" name="Google Shape;533;p50"/>
          <p:cNvSpPr/>
          <p:nvPr/>
        </p:nvSpPr>
        <p:spPr>
          <a:xfrm>
            <a:off x="1670400" y="2131538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5" name="Google Shape;535;p50"/>
          <p:cNvSpPr/>
          <p:nvPr/>
        </p:nvSpPr>
        <p:spPr>
          <a:xfrm>
            <a:off x="4296850" y="2129113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7" name="Google Shape;537;p50"/>
          <p:cNvSpPr/>
          <p:nvPr/>
        </p:nvSpPr>
        <p:spPr>
          <a:xfrm>
            <a:off x="6923375" y="2129113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raphic 2" descr="Linear Graph with solid fill">
            <a:extLst>
              <a:ext uri="{FF2B5EF4-FFF2-40B4-BE49-F238E27FC236}">
                <a16:creationId xmlns:a16="http://schemas.microsoft.com/office/drawing/2014/main" id="{E7EE8C91-8FE2-FD7F-DA29-AFE6C7162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6398" y="2228808"/>
            <a:ext cx="311054" cy="311054"/>
          </a:xfrm>
          <a:prstGeom prst="rect">
            <a:avLst/>
          </a:prstGeom>
        </p:spPr>
      </p:pic>
      <p:pic>
        <p:nvPicPr>
          <p:cNvPr id="5" name="Graphic 4" descr="Decision chart outline">
            <a:extLst>
              <a:ext uri="{FF2B5EF4-FFF2-40B4-BE49-F238E27FC236}">
                <a16:creationId xmlns:a16="http://schemas.microsoft.com/office/drawing/2014/main" id="{79BFC549-7798-5002-83E2-9CAD38737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2149" y="2228808"/>
            <a:ext cx="350809" cy="350809"/>
          </a:xfrm>
          <a:prstGeom prst="rect">
            <a:avLst/>
          </a:prstGeom>
        </p:spPr>
      </p:pic>
      <p:pic>
        <p:nvPicPr>
          <p:cNvPr id="7" name="Graphic 6" descr="Venn diagram outline">
            <a:extLst>
              <a:ext uri="{FF2B5EF4-FFF2-40B4-BE49-F238E27FC236}">
                <a16:creationId xmlns:a16="http://schemas.microsoft.com/office/drawing/2014/main" id="{209FDADD-B056-9DC3-B285-9771DC526B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7124" y="2172936"/>
            <a:ext cx="462552" cy="462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>
            <a:spLocks noGrp="1"/>
          </p:cNvSpPr>
          <p:nvPr>
            <p:ph type="title"/>
          </p:nvPr>
        </p:nvSpPr>
        <p:spPr>
          <a:xfrm>
            <a:off x="915943" y="299440"/>
            <a:ext cx="7130685" cy="104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4000" dirty="0">
                <a:latin typeface="Bahnschrift SemiBold SemiConden" panose="020B0502040204020203" pitchFamily="34" charset="0"/>
              </a:rPr>
              <a:t>Why Apply ML to Medical Data?</a:t>
            </a:r>
            <a:endParaRPr sz="4000" dirty="0">
              <a:latin typeface="Bahnschrift SemiBold SemiConden" panose="020B0502040204020203" pitchFamily="34" charset="0"/>
            </a:endParaRPr>
          </a:p>
        </p:txBody>
      </p:sp>
      <p:sp>
        <p:nvSpPr>
          <p:cNvPr id="340" name="Google Shape;340;p35"/>
          <p:cNvSpPr txBox="1">
            <a:spLocks noGrp="1"/>
          </p:cNvSpPr>
          <p:nvPr>
            <p:ph type="subTitle" idx="1"/>
          </p:nvPr>
        </p:nvSpPr>
        <p:spPr>
          <a:xfrm>
            <a:off x="2892744" y="1561629"/>
            <a:ext cx="3198856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Bahnschrift Condensed" panose="020B0502040204020203" pitchFamily="34" charset="0"/>
              </a:rPr>
              <a:t>Large complex and Multidimensional </a:t>
            </a:r>
            <a:endParaRPr sz="1600" dirty="0">
              <a:latin typeface="Bahnschrift Condensed" panose="020B0502040204020203" pitchFamily="34" charset="0"/>
            </a:endParaRPr>
          </a:p>
        </p:txBody>
      </p:sp>
      <p:sp>
        <p:nvSpPr>
          <p:cNvPr id="3" name="Google Shape;340;p35">
            <a:extLst>
              <a:ext uri="{FF2B5EF4-FFF2-40B4-BE49-F238E27FC236}">
                <a16:creationId xmlns:a16="http://schemas.microsoft.com/office/drawing/2014/main" id="{0828D497-442F-1361-42E7-441940C18140}"/>
              </a:ext>
            </a:extLst>
          </p:cNvPr>
          <p:cNvSpPr txBox="1">
            <a:spLocks/>
          </p:cNvSpPr>
          <p:nvPr/>
        </p:nvSpPr>
        <p:spPr>
          <a:xfrm>
            <a:off x="2892744" y="2261865"/>
            <a:ext cx="3198856" cy="4755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indent="0" algn="ctr"/>
            <a:r>
              <a:rPr lang="en-US" sz="1600" dirty="0">
                <a:latin typeface="Bahnschrift Condensed" panose="020B0502040204020203" pitchFamily="34" charset="0"/>
              </a:rPr>
              <a:t>Helps discover hidden patterns</a:t>
            </a:r>
          </a:p>
        </p:txBody>
      </p:sp>
      <p:sp>
        <p:nvSpPr>
          <p:cNvPr id="5" name="Google Shape;340;p35">
            <a:extLst>
              <a:ext uri="{FF2B5EF4-FFF2-40B4-BE49-F238E27FC236}">
                <a16:creationId xmlns:a16="http://schemas.microsoft.com/office/drawing/2014/main" id="{92669AC9-E475-3DBE-17F6-E7A0E0524F75}"/>
              </a:ext>
            </a:extLst>
          </p:cNvPr>
          <p:cNvSpPr txBox="1">
            <a:spLocks/>
          </p:cNvSpPr>
          <p:nvPr/>
        </p:nvSpPr>
        <p:spPr>
          <a:xfrm>
            <a:off x="2892744" y="2962101"/>
            <a:ext cx="3198856" cy="61622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indent="0" algn="ctr"/>
            <a:r>
              <a:rPr lang="en-US" sz="1600" dirty="0">
                <a:latin typeface="Bahnschrift Condensed" panose="020B0502040204020203" pitchFamily="34" charset="0"/>
              </a:rPr>
              <a:t>Improves diagnostic accuracy, clinical decisions, reduces error.</a:t>
            </a:r>
          </a:p>
        </p:txBody>
      </p:sp>
      <p:sp>
        <p:nvSpPr>
          <p:cNvPr id="6" name="Google Shape;340;p35">
            <a:extLst>
              <a:ext uri="{FF2B5EF4-FFF2-40B4-BE49-F238E27FC236}">
                <a16:creationId xmlns:a16="http://schemas.microsoft.com/office/drawing/2014/main" id="{094B4CB1-BABC-CF73-6634-E46250AF0D1B}"/>
              </a:ext>
            </a:extLst>
          </p:cNvPr>
          <p:cNvSpPr txBox="1">
            <a:spLocks/>
          </p:cNvSpPr>
          <p:nvPr/>
        </p:nvSpPr>
        <p:spPr>
          <a:xfrm>
            <a:off x="2892744" y="3803061"/>
            <a:ext cx="3198856" cy="61622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indent="0" algn="ctr"/>
            <a:r>
              <a:rPr lang="en-US" sz="1600" dirty="0">
                <a:latin typeface="Bahnschrift Condensed" panose="020B0502040204020203" pitchFamily="34" charset="0"/>
              </a:rPr>
              <a:t>Predictive models assist in risk assessment/early intervention.</a:t>
            </a:r>
          </a:p>
        </p:txBody>
      </p:sp>
      <p:pic>
        <p:nvPicPr>
          <p:cNvPr id="2" name="Graphic 1" descr="A friendly robot">
            <a:extLst>
              <a:ext uri="{FF2B5EF4-FFF2-40B4-BE49-F238E27FC236}">
                <a16:creationId xmlns:a16="http://schemas.microsoft.com/office/drawing/2014/main" id="{FEA5549D-AC11-FD42-2781-85E5C23D9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80" y="3180340"/>
            <a:ext cx="2255260" cy="2255260"/>
          </a:xfrm>
          <a:prstGeom prst="rect">
            <a:avLst/>
          </a:prstGeom>
        </p:spPr>
      </p:pic>
      <p:pic>
        <p:nvPicPr>
          <p:cNvPr id="7" name="Graphic 6" descr="Head with protective gear">
            <a:extLst>
              <a:ext uri="{FF2B5EF4-FFF2-40B4-BE49-F238E27FC236}">
                <a16:creationId xmlns:a16="http://schemas.microsoft.com/office/drawing/2014/main" id="{A8A54AE0-3256-09AF-56B7-C6EBAB276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295" y="536575"/>
            <a:ext cx="616077" cy="69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/>
          <p:nvPr/>
        </p:nvSpPr>
        <p:spPr>
          <a:xfrm>
            <a:off x="1794670" y="1067519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0" name="Google Shape;430;p42"/>
          <p:cNvSpPr/>
          <p:nvPr/>
        </p:nvSpPr>
        <p:spPr>
          <a:xfrm>
            <a:off x="4284647" y="1086262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2"/>
          <p:cNvSpPr/>
          <p:nvPr/>
        </p:nvSpPr>
        <p:spPr>
          <a:xfrm>
            <a:off x="6774624" y="1086262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2"/>
          <p:cNvSpPr/>
          <p:nvPr/>
        </p:nvSpPr>
        <p:spPr>
          <a:xfrm>
            <a:off x="2993388" y="3040853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2"/>
          <p:cNvSpPr/>
          <p:nvPr/>
        </p:nvSpPr>
        <p:spPr>
          <a:xfrm>
            <a:off x="5641911" y="3040853"/>
            <a:ext cx="550200" cy="550200"/>
          </a:xfrm>
          <a:prstGeom prst="ellipse">
            <a:avLst/>
          </a:prstGeom>
          <a:solidFill>
            <a:srgbClr val="FFFFFF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7" name="Google Shape;437;p42"/>
          <p:cNvSpPr txBox="1">
            <a:spLocks noGrp="1"/>
          </p:cNvSpPr>
          <p:nvPr>
            <p:ph type="title"/>
          </p:nvPr>
        </p:nvSpPr>
        <p:spPr>
          <a:xfrm>
            <a:off x="523106" y="24934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Bahnschrift SemiBold Condensed" panose="020B0502040204020203" pitchFamily="34" charset="0"/>
              </a:rPr>
              <a:t>ML Models used </a:t>
            </a:r>
            <a:endParaRPr sz="3500" dirty="0">
              <a:latin typeface="Bahnschrift SemiBold Condensed" panose="020B0502040204020203" pitchFamily="34" charset="0"/>
            </a:endParaRPr>
          </a:p>
        </p:txBody>
      </p:sp>
      <p:sp>
        <p:nvSpPr>
          <p:cNvPr id="442" name="Google Shape;442;p42"/>
          <p:cNvSpPr txBox="1">
            <a:spLocks noGrp="1"/>
          </p:cNvSpPr>
          <p:nvPr>
            <p:ph type="subTitle" idx="7"/>
          </p:nvPr>
        </p:nvSpPr>
        <p:spPr>
          <a:xfrm>
            <a:off x="721766" y="1760951"/>
            <a:ext cx="2817682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Logistic Regression</a:t>
            </a:r>
            <a:endParaRPr dirty="0"/>
          </a:p>
        </p:txBody>
      </p:sp>
      <p:sp>
        <p:nvSpPr>
          <p:cNvPr id="443" name="Google Shape;443;p42"/>
          <p:cNvSpPr txBox="1">
            <a:spLocks noGrp="1"/>
          </p:cNvSpPr>
          <p:nvPr>
            <p:ph type="subTitle" idx="8"/>
          </p:nvPr>
        </p:nvSpPr>
        <p:spPr>
          <a:xfrm>
            <a:off x="3578947" y="1760951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KNN</a:t>
            </a:r>
            <a:endParaRPr dirty="0"/>
          </a:p>
        </p:txBody>
      </p:sp>
      <p:sp>
        <p:nvSpPr>
          <p:cNvPr id="444" name="Google Shape;444;p42"/>
          <p:cNvSpPr txBox="1">
            <a:spLocks noGrp="1"/>
          </p:cNvSpPr>
          <p:nvPr>
            <p:ph type="subTitle" idx="9"/>
          </p:nvPr>
        </p:nvSpPr>
        <p:spPr>
          <a:xfrm>
            <a:off x="2085625" y="3590248"/>
            <a:ext cx="23912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Random Forest</a:t>
            </a:r>
            <a:endParaRPr dirty="0"/>
          </a:p>
        </p:txBody>
      </p:sp>
      <p:sp>
        <p:nvSpPr>
          <p:cNvPr id="446" name="Google Shape;446;p42"/>
          <p:cNvSpPr txBox="1">
            <a:spLocks noGrp="1"/>
          </p:cNvSpPr>
          <p:nvPr>
            <p:ph type="subTitle" idx="14"/>
          </p:nvPr>
        </p:nvSpPr>
        <p:spPr>
          <a:xfrm>
            <a:off x="6056725" y="1760951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Decision Tree</a:t>
            </a:r>
            <a:endParaRPr dirty="0"/>
          </a:p>
        </p:txBody>
      </p:sp>
      <p:sp>
        <p:nvSpPr>
          <p:cNvPr id="447" name="Google Shape;447;p42"/>
          <p:cNvSpPr txBox="1">
            <a:spLocks noGrp="1"/>
          </p:cNvSpPr>
          <p:nvPr>
            <p:ph type="subTitle" idx="15"/>
          </p:nvPr>
        </p:nvSpPr>
        <p:spPr>
          <a:xfrm>
            <a:off x="4924012" y="3592409"/>
            <a:ext cx="1986000" cy="4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SVM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D5D31E1-093C-F9D2-A906-81B0452D4A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1742" y="2121272"/>
            <a:ext cx="243772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Linear model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Good baseline for binary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Classification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5CA2E16-56E1-608E-DCE6-C7FE89CE8B58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3581747" y="2102581"/>
            <a:ext cx="1980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Distance-based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Classifies based on similarity to nearest neighbors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200" b="1" dirty="0">
                <a:latin typeface="Bahnschrift Light Condensed" panose="020B0502040204020203" pitchFamily="34" charset="0"/>
              </a:rPr>
              <a:t>Key Hyperparameters:</a:t>
            </a:r>
            <a:r>
              <a:rPr lang="en-US" sz="1200" dirty="0"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latin typeface="Bahnschrift Light Condensed" panose="020B0502040204020203" pitchFamily="34" charset="0"/>
              </a:rPr>
              <a:t>n_neighbors</a:t>
            </a:r>
            <a:r>
              <a:rPr lang="en-US" sz="1200" dirty="0">
                <a:latin typeface="Bahnschrift Light Condensed" panose="020B0502040204020203" pitchFamily="34" charset="0"/>
              </a:rPr>
              <a:t>, metric, weights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D8FC814-BF14-1B9D-B2E5-565321C4747A}"/>
              </a:ext>
            </a:extLst>
          </p:cNvPr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4744388" y="2137319"/>
            <a:ext cx="4705802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Tree structure-Easy to interpret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Can overfit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b="1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Key Hyperparameter </a:t>
            </a:r>
            <a:r>
              <a:rPr lang="en-US" alt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dirty="0" err="1">
                <a:solidFill>
                  <a:schemeClr val="tx1"/>
                </a:solidFill>
                <a:latin typeface="Bahnschrift Light Condensed" panose="020B0502040204020203" pitchFamily="34" charset="0"/>
              </a:rPr>
              <a:t>max_depth</a:t>
            </a:r>
            <a:r>
              <a:rPr lang="en-US" alt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→ maximum tree depth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criterion → </a:t>
            </a:r>
            <a:r>
              <a:rPr lang="en-US" altLang="en-US" sz="1300" dirty="0" err="1">
                <a:solidFill>
                  <a:schemeClr val="tx1"/>
                </a:solidFill>
                <a:latin typeface="Bahnschrift Light Condensed" panose="020B0502040204020203" pitchFamily="34" charset="0"/>
              </a:rPr>
              <a:t>gini</a:t>
            </a:r>
            <a:r>
              <a:rPr lang="en-US" alt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or entropy 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212918F-47D8-640C-7121-0C34357C4D27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1945374" y="3980294"/>
            <a:ext cx="276616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Ensemble of decision trees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More stable and accurate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Handles non-linear</a:t>
            </a:r>
            <a:r>
              <a:rPr lang="en-US" alt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/complex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relationships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200" b="1" dirty="0">
                <a:latin typeface="Bahnschrift Light Condensed" panose="020B0502040204020203" pitchFamily="34" charset="0"/>
              </a:rPr>
              <a:t>Key Hyperparameters:</a:t>
            </a:r>
            <a:r>
              <a:rPr lang="en-US" sz="1200" dirty="0"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latin typeface="Bahnschrift Light Condensed" panose="020B0502040204020203" pitchFamily="34" charset="0"/>
              </a:rPr>
              <a:t>n_estimators</a:t>
            </a:r>
            <a:r>
              <a:rPr lang="en-US" sz="1200" dirty="0">
                <a:latin typeface="Bahnschrift Light Condensed" panose="020B0502040204020203" pitchFamily="34" charset="0"/>
              </a:rPr>
              <a:t>, </a:t>
            </a:r>
            <a:r>
              <a:rPr lang="en-US" sz="1200" dirty="0" err="1">
                <a:latin typeface="Bahnschrift Light Condensed" panose="020B0502040204020203" pitchFamily="34" charset="0"/>
              </a:rPr>
              <a:t>max_depth</a:t>
            </a:r>
            <a:r>
              <a:rPr lang="en-US" sz="1200" dirty="0">
                <a:latin typeface="Bahnschrift Light Condensed" panose="020B0502040204020203" pitchFamily="34" charset="0"/>
              </a:rPr>
              <a:t>, </a:t>
            </a:r>
            <a:r>
              <a:rPr lang="en-US" sz="1200" dirty="0" err="1">
                <a:latin typeface="Bahnschrift Light Condensed" panose="020B0502040204020203" pitchFamily="34" charset="0"/>
              </a:rPr>
              <a:t>max_features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193BEA8-87A9-4383-07D6-98DF36E42089}"/>
              </a:ext>
            </a:extLst>
          </p:cNvPr>
          <p:cNvSpPr>
            <a:spLocks noGrp="1" noChangeArrowheads="1"/>
          </p:cNvSpPr>
          <p:nvPr>
            <p:ph type="subTitle" idx="6"/>
          </p:nvPr>
        </p:nvSpPr>
        <p:spPr bwMode="auto">
          <a:xfrm>
            <a:off x="4385747" y="3980294"/>
            <a:ext cx="3062528" cy="132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Finds optimal boundary between classes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Works well with high-dimensional data</a:t>
            </a:r>
          </a:p>
          <a:p>
            <a:r>
              <a:rPr lang="en-US" alt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Key Hyperparameter : </a:t>
            </a:r>
            <a:r>
              <a:rPr lang="en-US" sz="1200" dirty="0">
                <a:latin typeface="Bahnschrift Light Condensed" panose="020B0502040204020203" pitchFamily="34" charset="0"/>
              </a:rPr>
              <a:t>kernel → linear, poly</a:t>
            </a:r>
          </a:p>
          <a:p>
            <a:r>
              <a:rPr lang="en-US" sz="1200" dirty="0">
                <a:latin typeface="Bahnschrift Light Condensed" panose="020B0502040204020203" pitchFamily="34" charset="0"/>
              </a:rPr>
              <a:t>C → regularization strength</a:t>
            </a:r>
          </a:p>
          <a:p>
            <a:r>
              <a:rPr lang="en-US" sz="1200" dirty="0">
                <a:latin typeface="Bahnschrift Light Condensed" panose="020B0502040204020203" pitchFamily="34" charset="0"/>
              </a:rPr>
              <a:t>gamma → curve shape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</p:txBody>
      </p:sp>
      <p:pic>
        <p:nvPicPr>
          <p:cNvPr id="3" name="Graphic 2" descr="Forest scene with solid fill">
            <a:extLst>
              <a:ext uri="{FF2B5EF4-FFF2-40B4-BE49-F238E27FC236}">
                <a16:creationId xmlns:a16="http://schemas.microsoft.com/office/drawing/2014/main" id="{E7102901-1EC1-58F6-4567-996160693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1254" y="3102754"/>
            <a:ext cx="359942" cy="359942"/>
          </a:xfrm>
          <a:prstGeom prst="rect">
            <a:avLst/>
          </a:prstGeom>
        </p:spPr>
      </p:pic>
      <p:pic>
        <p:nvPicPr>
          <p:cNvPr id="5" name="Graphic 4" descr="Decision chart outline">
            <a:extLst>
              <a:ext uri="{FF2B5EF4-FFF2-40B4-BE49-F238E27FC236}">
                <a16:creationId xmlns:a16="http://schemas.microsoft.com/office/drawing/2014/main" id="{D90FC403-BADC-802B-9A48-E3BDB421A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8745" y="1184552"/>
            <a:ext cx="353620" cy="353620"/>
          </a:xfrm>
          <a:prstGeom prst="rect">
            <a:avLst/>
          </a:prstGeom>
        </p:spPr>
      </p:pic>
      <p:pic>
        <p:nvPicPr>
          <p:cNvPr id="12" name="Graphic 11" descr="Illustrator outline">
            <a:extLst>
              <a:ext uri="{FF2B5EF4-FFF2-40B4-BE49-F238E27FC236}">
                <a16:creationId xmlns:a16="http://schemas.microsoft.com/office/drawing/2014/main" id="{121962F8-EE0A-5FD7-EE01-E55D25482E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06565" y="3131285"/>
            <a:ext cx="420893" cy="409811"/>
          </a:xfrm>
          <a:prstGeom prst="rect">
            <a:avLst/>
          </a:prstGeom>
        </p:spPr>
      </p:pic>
      <p:pic>
        <p:nvPicPr>
          <p:cNvPr id="14" name="Graphic 13" descr="Neighborhood outline">
            <a:extLst>
              <a:ext uri="{FF2B5EF4-FFF2-40B4-BE49-F238E27FC236}">
                <a16:creationId xmlns:a16="http://schemas.microsoft.com/office/drawing/2014/main" id="{93099538-E52E-1BA1-34D6-5C781F4C6A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5106" y="1170636"/>
            <a:ext cx="369282" cy="369282"/>
          </a:xfrm>
          <a:prstGeom prst="rect">
            <a:avLst/>
          </a:prstGeom>
        </p:spPr>
      </p:pic>
      <p:pic>
        <p:nvPicPr>
          <p:cNvPr id="16" name="Graphic 15" descr="Linear Graph outline">
            <a:extLst>
              <a:ext uri="{FF2B5EF4-FFF2-40B4-BE49-F238E27FC236}">
                <a16:creationId xmlns:a16="http://schemas.microsoft.com/office/drawing/2014/main" id="{19234F0D-4B3B-3E02-CC2A-51EBDEC3087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83390" y="1123380"/>
            <a:ext cx="418046" cy="418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47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21875" b="21875"/>
          <a:stretch/>
        </p:blipFill>
        <p:spPr>
          <a:xfrm>
            <a:off x="0" y="0"/>
            <a:ext cx="9143997" cy="5143500"/>
          </a:xfrm>
          <a:prstGeom prst="rect">
            <a:avLst/>
          </a:prstGeom>
        </p:spPr>
      </p:pic>
      <p:sp>
        <p:nvSpPr>
          <p:cNvPr id="507" name="Google Shape;507;p47"/>
          <p:cNvSpPr txBox="1">
            <a:spLocks noGrp="1"/>
          </p:cNvSpPr>
          <p:nvPr>
            <p:ph type="title"/>
          </p:nvPr>
        </p:nvSpPr>
        <p:spPr>
          <a:xfrm>
            <a:off x="330969" y="3747090"/>
            <a:ext cx="848205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>
                <a:latin typeface="Bahnschrift Light Condensed" panose="020B0502040204020203" pitchFamily="34" charset="0"/>
              </a:rPr>
              <a:t>Can machine learning models accurately predict heart disease using patient clinical features?</a:t>
            </a:r>
            <a:endParaRPr sz="2000" dirty="0">
              <a:latin typeface="Bahnschrift Light Condensed" panose="020B0502040204020203" pitchFamily="34" charset="0"/>
            </a:endParaRPr>
          </a:p>
        </p:txBody>
      </p:sp>
      <p:pic>
        <p:nvPicPr>
          <p:cNvPr id="508" name="Google Shape;508;p47"/>
          <p:cNvPicPr preferRelativeResize="0"/>
          <p:nvPr/>
        </p:nvPicPr>
        <p:blipFill rotWithShape="1">
          <a:blip r:embed="rId4">
            <a:alphaModFix amt="80000"/>
          </a:blip>
          <a:srcRect l="29937" t="7914" r="14324" b="8689"/>
          <a:stretch/>
        </p:blipFill>
        <p:spPr>
          <a:xfrm rot="-5400014">
            <a:off x="6575801" y="-1231797"/>
            <a:ext cx="2220900" cy="3810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7"/>
          <p:cNvPicPr preferRelativeResize="0"/>
          <p:nvPr/>
        </p:nvPicPr>
        <p:blipFill rotWithShape="1">
          <a:blip r:embed="rId4">
            <a:alphaModFix amt="80000"/>
          </a:blip>
          <a:srcRect l="29937" t="7914" r="14324" b="8689"/>
          <a:stretch/>
        </p:blipFill>
        <p:spPr>
          <a:xfrm rot="10799986">
            <a:off x="-397224" y="-314622"/>
            <a:ext cx="2220900" cy="381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47">
            <a:extLst>
              <a:ext uri="{FF2B5EF4-FFF2-40B4-BE49-F238E27FC236}">
                <a16:creationId xmlns:a16="http://schemas.microsoft.com/office/drawing/2014/main" id="{AD7B2182-2DF1-8F93-A172-60323C5085A3}"/>
              </a:ext>
            </a:extLst>
          </p:cNvPr>
          <p:cNvSpPr txBox="1">
            <a:spLocks/>
          </p:cNvSpPr>
          <p:nvPr/>
        </p:nvSpPr>
        <p:spPr>
          <a:xfrm>
            <a:off x="2498653" y="4512705"/>
            <a:ext cx="4146687" cy="4378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r>
              <a:rPr lang="en-US" sz="1500" b="0" dirty="0">
                <a:latin typeface="Bahnschrift Light Condensed" panose="020B0502040204020203" pitchFamily="34" charset="0"/>
              </a:rPr>
              <a:t>Which ML model provides the best diagnostic performance?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 SemiBold SemiConden" panose="020B0502040204020203" pitchFamily="34" charset="0"/>
              </a:rPr>
              <a:t>Objectives</a:t>
            </a:r>
            <a:endParaRPr dirty="0">
              <a:latin typeface="Bahnschrift SemiBold SemiConden" panose="020B0502040204020203" pitchFamily="34" charset="0"/>
            </a:endParaRPr>
          </a:p>
        </p:txBody>
      </p:sp>
      <p:graphicFrame>
        <p:nvGraphicFramePr>
          <p:cNvPr id="557" name="Google Shape;557;p51"/>
          <p:cNvGraphicFramePr/>
          <p:nvPr>
            <p:extLst>
              <p:ext uri="{D42A27DB-BD31-4B8C-83A1-F6EECF244321}">
                <p14:modId xmlns:p14="http://schemas.microsoft.com/office/powerpoint/2010/main" val="1224733170"/>
              </p:ext>
            </p:extLst>
          </p:nvPr>
        </p:nvGraphicFramePr>
        <p:xfrm>
          <a:off x="770800" y="1383635"/>
          <a:ext cx="7704000" cy="2805500"/>
        </p:xfrm>
        <a:graphic>
          <a:graphicData uri="http://schemas.openxmlformats.org/drawingml/2006/table">
            <a:tbl>
              <a:tblPr>
                <a:noFill/>
                <a:tableStyleId>{B85F4A0A-5E61-4C02-876E-661CF7420189}</a:tableStyleId>
              </a:tblPr>
              <a:tblGrid>
                <a:gridCol w="77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9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Preprocess and analyze a real-world dataset.</a:t>
                      </a:r>
                      <a:endParaRPr sz="1800" b="1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Train and compare multiple ML classification models.</a:t>
                      </a:r>
                      <a:endParaRPr sz="1800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Evaluate models using different metrics.</a:t>
                      </a:r>
                      <a:endParaRPr sz="1800" b="1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Apply cross-validation and hyperparameter tuning.</a:t>
                      </a:r>
                      <a:endParaRPr sz="1800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Present findings and insights using visualizations.</a:t>
                      </a:r>
                      <a:endParaRPr sz="1800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Bahnschrift Light Condensed" panose="020B0502040204020203" pitchFamily="34" charset="0"/>
                        </a:rPr>
                        <a:t>Apply knowledge learned in the Data Mining course to a real dataset.</a:t>
                      </a:r>
                      <a:endParaRPr sz="1800" b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Graphic 2" descr="Checklist with solid fill">
            <a:extLst>
              <a:ext uri="{FF2B5EF4-FFF2-40B4-BE49-F238E27FC236}">
                <a16:creationId xmlns:a16="http://schemas.microsoft.com/office/drawing/2014/main" id="{725F7121-9E2E-DCE3-5BF6-7B842E6C4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4114" y="497165"/>
            <a:ext cx="520560" cy="52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latin typeface="Bahnschrift SemiBold SemiConden" panose="020B0502040204020203" pitchFamily="34" charset="0"/>
              </a:rPr>
              <a:t>Tools and Libraries </a:t>
            </a:r>
            <a:endParaRPr sz="4000" dirty="0">
              <a:latin typeface="Bahnschrift SemiBold SemiConden" panose="020B0502040204020203" pitchFamily="34" charset="0"/>
            </a:endParaRPr>
          </a:p>
        </p:txBody>
      </p:sp>
      <p:graphicFrame>
        <p:nvGraphicFramePr>
          <p:cNvPr id="314" name="Google Shape;314;p33"/>
          <p:cNvGraphicFramePr/>
          <p:nvPr>
            <p:extLst>
              <p:ext uri="{D42A27DB-BD31-4B8C-83A1-F6EECF244321}">
                <p14:modId xmlns:p14="http://schemas.microsoft.com/office/powerpoint/2010/main" val="3705826848"/>
              </p:ext>
            </p:extLst>
          </p:nvPr>
        </p:nvGraphicFramePr>
        <p:xfrm>
          <a:off x="720000" y="1614825"/>
          <a:ext cx="7704000" cy="2710432"/>
        </p:xfrm>
        <a:graphic>
          <a:graphicData uri="http://schemas.openxmlformats.org/drawingml/2006/table">
            <a:tbl>
              <a:tblPr>
                <a:noFill/>
                <a:tableStyleId>{B85F4A0A-5E61-4C02-876E-661CF7420189}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76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1"/>
                          </a:solidFill>
                          <a:latin typeface="Bahnschrif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Datasource</a:t>
                      </a:r>
                      <a:r>
                        <a:rPr lang="en" sz="1800" dirty="0">
                          <a:solidFill>
                            <a:schemeClr val="dk1"/>
                          </a:solidFill>
                          <a:latin typeface="Bahnschrif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endParaRPr sz="1800" dirty="0">
                        <a:solidFill>
                          <a:schemeClr val="dk1"/>
                        </a:solidFill>
                        <a:latin typeface="Bahnschrif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6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1"/>
                          </a:solidFill>
                          <a:latin typeface="Bahnschrif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Language</a:t>
                      </a:r>
                      <a:r>
                        <a:rPr lang="en" sz="1800" dirty="0">
                          <a:solidFill>
                            <a:schemeClr val="dk1"/>
                          </a:solidFill>
                          <a:latin typeface="Bahnschrif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 : Python </a:t>
                      </a:r>
                      <a:endParaRPr sz="1800" dirty="0">
                        <a:solidFill>
                          <a:schemeClr val="dk1"/>
                        </a:solidFill>
                        <a:latin typeface="Bahnschrif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6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sng" dirty="0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Bahnschrif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Libraries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Bahnschrif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: pandas, NumPy, scikit-learn, matplotlib, seaborn</a:t>
                      </a:r>
                      <a:endParaRPr sz="1800" dirty="0">
                        <a:solidFill>
                          <a:schemeClr val="dk1"/>
                        </a:solidFill>
                        <a:latin typeface="Bahnschrif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6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1"/>
                          </a:solidFill>
                          <a:latin typeface="Bahnschrif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Platform</a:t>
                      </a:r>
                      <a:r>
                        <a:rPr lang="en" sz="1800" dirty="0">
                          <a:solidFill>
                            <a:schemeClr val="dk1"/>
                          </a:solidFill>
                          <a:latin typeface="Bahnschrif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 : Google Colab </a:t>
                      </a:r>
                      <a:endParaRPr sz="1800" dirty="0">
                        <a:solidFill>
                          <a:schemeClr val="dk1"/>
                        </a:solidFill>
                        <a:latin typeface="Bahnschrif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37B459A-C9DD-2CEF-C2CB-DE38A8AC2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16" y="1708831"/>
            <a:ext cx="1380899" cy="4863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3DD646-D890-6B5F-0490-5DCD117CD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66" y="2404423"/>
            <a:ext cx="944584" cy="4863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 descr="A yellow and orange logo&#10;&#10;AI-generated content may be incorrect.">
            <a:extLst>
              <a:ext uri="{FF2B5EF4-FFF2-40B4-BE49-F238E27FC236}">
                <a16:creationId xmlns:a16="http://schemas.microsoft.com/office/drawing/2014/main" id="{B49BF2C6-8582-A415-8830-C15C7FE13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841" y="3755339"/>
            <a:ext cx="1099633" cy="486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 descr="A logo with different colored rectangles&#10;&#10;AI-generated content may be incorrect.">
            <a:extLst>
              <a:ext uri="{FF2B5EF4-FFF2-40B4-BE49-F238E27FC236}">
                <a16:creationId xmlns:a16="http://schemas.microsoft.com/office/drawing/2014/main" id="{A415F710-1476-AF7D-170B-2F29E815C9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648" y="3120539"/>
            <a:ext cx="408545" cy="4085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D5286589-D88B-1D99-0852-243FC0F09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9934" y="3120539"/>
            <a:ext cx="408545" cy="4085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87D708-C53B-F906-405B-8EABFECDC4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5139" y="3120538"/>
            <a:ext cx="408545" cy="4085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52738A-EC42-96D1-9BDA-B3D8F08198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9832" y="3120539"/>
            <a:ext cx="408544" cy="4085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170" name="Picture 2" descr="scikit-learn">
            <a:extLst>
              <a:ext uri="{FF2B5EF4-FFF2-40B4-BE49-F238E27FC236}">
                <a16:creationId xmlns:a16="http://schemas.microsoft.com/office/drawing/2014/main" id="{152011A8-5429-DCD4-0597-C470B79DE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448" y="3120539"/>
            <a:ext cx="408544" cy="4085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 SemiBold SemiConden" panose="020B0502040204020203" pitchFamily="34" charset="0"/>
              </a:rPr>
              <a:t>Knowing and Understanding our Data 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624" name="Google Shape;624;p56"/>
          <p:cNvSpPr txBox="1"/>
          <p:nvPr/>
        </p:nvSpPr>
        <p:spPr>
          <a:xfrm flipH="1">
            <a:off x="775572" y="1704824"/>
            <a:ext cx="26127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20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What features do we have?</a:t>
            </a:r>
            <a:endParaRPr sz="2000" b="1" dirty="0">
              <a:solidFill>
                <a:schemeClr val="tx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626" name="Google Shape;626;p56"/>
          <p:cNvSpPr txBox="1"/>
          <p:nvPr/>
        </p:nvSpPr>
        <p:spPr>
          <a:xfrm flipH="1">
            <a:off x="2454124" y="3005153"/>
            <a:ext cx="26127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20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Are there missing values?</a:t>
            </a:r>
            <a:endParaRPr sz="2000" dirty="0">
              <a:solidFill>
                <a:schemeClr val="tx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628" name="Google Shape;628;p56"/>
          <p:cNvSpPr txBox="1"/>
          <p:nvPr/>
        </p:nvSpPr>
        <p:spPr>
          <a:xfrm flipH="1">
            <a:off x="3880767" y="1704824"/>
            <a:ext cx="3103637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Bahnschrift Light Condensed" panose="020B0502040204020203" pitchFamily="34" charset="0"/>
                <a:ea typeface="Be Vietnam Pro"/>
                <a:cs typeface="Be Vietnam Pro"/>
                <a:sym typeface="Be Vietnam Pro"/>
              </a:rPr>
              <a:t>Are the values skewed or normal </a:t>
            </a:r>
            <a:endParaRPr sz="2000" dirty="0">
              <a:solidFill>
                <a:schemeClr val="dk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630" name="Google Shape;630;p56"/>
          <p:cNvSpPr txBox="1"/>
          <p:nvPr/>
        </p:nvSpPr>
        <p:spPr>
          <a:xfrm flipH="1">
            <a:off x="5811300" y="3270053"/>
            <a:ext cx="26127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Bahnschrift Light Condensed" panose="020B0502040204020203" pitchFamily="34" charset="0"/>
                <a:ea typeface="Be Vietnam Pro"/>
                <a:cs typeface="Be Vietnam Pro"/>
                <a:sym typeface="Be Vietnam Pro"/>
              </a:rPr>
              <a:t>Which features relate to the target</a:t>
            </a:r>
            <a:endParaRPr sz="2000" dirty="0">
              <a:solidFill>
                <a:schemeClr val="dk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632" name="Google Shape;632;p56"/>
          <p:cNvSpPr/>
          <p:nvPr/>
        </p:nvSpPr>
        <p:spPr>
          <a:xfrm>
            <a:off x="1960900" y="2498816"/>
            <a:ext cx="242100" cy="24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56"/>
          <p:cNvSpPr/>
          <p:nvPr/>
        </p:nvSpPr>
        <p:spPr>
          <a:xfrm>
            <a:off x="3638667" y="2498816"/>
            <a:ext cx="242100" cy="24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56"/>
          <p:cNvSpPr/>
          <p:nvPr/>
        </p:nvSpPr>
        <p:spPr>
          <a:xfrm>
            <a:off x="5316433" y="2498816"/>
            <a:ext cx="242100" cy="24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56"/>
          <p:cNvSpPr/>
          <p:nvPr/>
        </p:nvSpPr>
        <p:spPr>
          <a:xfrm>
            <a:off x="6994200" y="2498816"/>
            <a:ext cx="242100" cy="24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6" name="Google Shape;636;p56"/>
          <p:cNvCxnSpPr>
            <a:stCxn id="632" idx="6"/>
            <a:endCxn id="633" idx="2"/>
          </p:cNvCxnSpPr>
          <p:nvPr/>
        </p:nvCxnSpPr>
        <p:spPr>
          <a:xfrm>
            <a:off x="2203000" y="2619866"/>
            <a:ext cx="1435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7" name="Google Shape;637;p56"/>
          <p:cNvCxnSpPr>
            <a:stCxn id="633" idx="6"/>
            <a:endCxn id="634" idx="2"/>
          </p:cNvCxnSpPr>
          <p:nvPr/>
        </p:nvCxnSpPr>
        <p:spPr>
          <a:xfrm>
            <a:off x="3880767" y="2619866"/>
            <a:ext cx="1435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8" name="Google Shape;638;p56"/>
          <p:cNvCxnSpPr>
            <a:stCxn id="634" idx="6"/>
            <a:endCxn id="635" idx="2"/>
          </p:cNvCxnSpPr>
          <p:nvPr/>
        </p:nvCxnSpPr>
        <p:spPr>
          <a:xfrm>
            <a:off x="5558533" y="2619866"/>
            <a:ext cx="1435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9" name="Google Shape;639;p56"/>
          <p:cNvCxnSpPr>
            <a:stCxn id="632" idx="0"/>
            <a:endCxn id="624" idx="2"/>
          </p:cNvCxnSpPr>
          <p:nvPr/>
        </p:nvCxnSpPr>
        <p:spPr>
          <a:xfrm rot="10800000">
            <a:off x="2081950" y="2234516"/>
            <a:ext cx="0" cy="26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0" name="Google Shape;640;p56"/>
          <p:cNvCxnSpPr>
            <a:stCxn id="633" idx="4"/>
            <a:endCxn id="626" idx="0"/>
          </p:cNvCxnSpPr>
          <p:nvPr/>
        </p:nvCxnSpPr>
        <p:spPr>
          <a:xfrm>
            <a:off x="3759717" y="2740916"/>
            <a:ext cx="900" cy="26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1" name="Google Shape;641;p56"/>
          <p:cNvCxnSpPr>
            <a:cxnSpLocks/>
            <a:stCxn id="634" idx="0"/>
            <a:endCxn id="628" idx="2"/>
          </p:cNvCxnSpPr>
          <p:nvPr/>
        </p:nvCxnSpPr>
        <p:spPr>
          <a:xfrm flipH="1" flipV="1">
            <a:off x="5432585" y="2234624"/>
            <a:ext cx="4898" cy="26419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2" name="Google Shape;642;p56"/>
          <p:cNvCxnSpPr>
            <a:cxnSpLocks/>
            <a:stCxn id="635" idx="4"/>
          </p:cNvCxnSpPr>
          <p:nvPr/>
        </p:nvCxnSpPr>
        <p:spPr>
          <a:xfrm>
            <a:off x="7115250" y="2740916"/>
            <a:ext cx="0" cy="26423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340;p35">
            <a:extLst>
              <a:ext uri="{FF2B5EF4-FFF2-40B4-BE49-F238E27FC236}">
                <a16:creationId xmlns:a16="http://schemas.microsoft.com/office/drawing/2014/main" id="{BE790632-733D-B9A0-0DF4-3B660C1C5171}"/>
              </a:ext>
            </a:extLst>
          </p:cNvPr>
          <p:cNvSpPr txBox="1">
            <a:spLocks/>
          </p:cNvSpPr>
          <p:nvPr/>
        </p:nvSpPr>
        <p:spPr>
          <a:xfrm>
            <a:off x="1970182" y="4275644"/>
            <a:ext cx="5471271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dirty="0">
                <a:solidFill>
                  <a:schemeClr val="accent1"/>
                </a:solidFill>
                <a:latin typeface="Bahnschrift SemiBold Condensed" panose="020B0502040204020203" pitchFamily="34" charset="0"/>
              </a:rPr>
              <a:t>ML models are only as good as the data they receive.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F01290-A510-7F04-FBEC-147A85799FA0}"/>
              </a:ext>
            </a:extLst>
          </p:cNvPr>
          <p:cNvSpPr/>
          <p:nvPr/>
        </p:nvSpPr>
        <p:spPr>
          <a:xfrm>
            <a:off x="1702546" y="4209143"/>
            <a:ext cx="5738907" cy="663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1"/>
          <p:cNvSpPr txBox="1">
            <a:spLocks noGrp="1"/>
          </p:cNvSpPr>
          <p:nvPr>
            <p:ph type="title"/>
          </p:nvPr>
        </p:nvSpPr>
        <p:spPr>
          <a:xfrm>
            <a:off x="2509564" y="142339"/>
            <a:ext cx="39216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Bahnschrift SemiBold SemiConden" panose="020B0502040204020203" pitchFamily="34" charset="0"/>
              </a:rPr>
              <a:t>Features exploration</a:t>
            </a:r>
            <a:endParaRPr sz="3500" dirty="0">
              <a:latin typeface="Bahnschrift SemiBold SemiConden" panose="020B050204020402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AEC9E8-0AF3-C9D4-5B58-8B13530B7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87" y="2488923"/>
            <a:ext cx="7058025" cy="505506"/>
          </a:xfrm>
          <a:prstGeom prst="rect">
            <a:avLst/>
          </a:prstGeom>
        </p:spPr>
      </p:pic>
      <p:sp>
        <p:nvSpPr>
          <p:cNvPr id="32" name="Google Shape;624;p56">
            <a:extLst>
              <a:ext uri="{FF2B5EF4-FFF2-40B4-BE49-F238E27FC236}">
                <a16:creationId xmlns:a16="http://schemas.microsoft.com/office/drawing/2014/main" id="{61E56180-17ED-3E38-4DF5-2C199C2D5AE9}"/>
              </a:ext>
            </a:extLst>
          </p:cNvPr>
          <p:cNvSpPr txBox="1"/>
          <p:nvPr/>
        </p:nvSpPr>
        <p:spPr>
          <a:xfrm flipH="1">
            <a:off x="854296" y="1081044"/>
            <a:ext cx="1179138" cy="45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Chest pain </a:t>
            </a:r>
          </a:p>
          <a:p>
            <a:pPr lvl="0" algn="ctr">
              <a:lnSpc>
                <a:spcPct val="115000"/>
              </a:lnSpc>
            </a:pP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Type(1</a:t>
            </a: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  <a:sym typeface="Wingdings" panose="05000000000000000000" pitchFamily="2" charset="2"/>
              </a:rPr>
              <a:t>4)</a:t>
            </a:r>
            <a:endParaRPr sz="1300" b="1" dirty="0">
              <a:solidFill>
                <a:schemeClr val="tx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3" name="Google Shape;624;p56">
            <a:extLst>
              <a:ext uri="{FF2B5EF4-FFF2-40B4-BE49-F238E27FC236}">
                <a16:creationId xmlns:a16="http://schemas.microsoft.com/office/drawing/2014/main" id="{3F2E581D-D136-8688-F9BA-F5432B1F786E}"/>
              </a:ext>
            </a:extLst>
          </p:cNvPr>
          <p:cNvSpPr txBox="1"/>
          <p:nvPr/>
        </p:nvSpPr>
        <p:spPr>
          <a:xfrm flipH="1">
            <a:off x="1443865" y="4228562"/>
            <a:ext cx="2559270" cy="45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Resting blood pressure (in mm Hg) measured when the patient is lying down.</a:t>
            </a:r>
            <a:endParaRPr sz="1300" b="1" dirty="0">
              <a:solidFill>
                <a:schemeClr val="tx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34" name="Google Shape;641;p56">
            <a:extLst>
              <a:ext uri="{FF2B5EF4-FFF2-40B4-BE49-F238E27FC236}">
                <a16:creationId xmlns:a16="http://schemas.microsoft.com/office/drawing/2014/main" id="{987EC2AB-53E3-E6C6-F443-2A55F3D69372}"/>
              </a:ext>
            </a:extLst>
          </p:cNvPr>
          <p:cNvCxnSpPr>
            <a:cxnSpLocks/>
          </p:cNvCxnSpPr>
          <p:nvPr/>
        </p:nvCxnSpPr>
        <p:spPr>
          <a:xfrm flipV="1">
            <a:off x="2633068" y="3115411"/>
            <a:ext cx="0" cy="106114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624;p56">
            <a:extLst>
              <a:ext uri="{FF2B5EF4-FFF2-40B4-BE49-F238E27FC236}">
                <a16:creationId xmlns:a16="http://schemas.microsoft.com/office/drawing/2014/main" id="{FB32AA0D-592F-BE2C-2FF7-49FE7B8F3E98}"/>
              </a:ext>
            </a:extLst>
          </p:cNvPr>
          <p:cNvSpPr txBox="1"/>
          <p:nvPr/>
        </p:nvSpPr>
        <p:spPr>
          <a:xfrm flipH="1">
            <a:off x="2633068" y="3724507"/>
            <a:ext cx="1876519" cy="45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  <a:ea typeface="Be Vietnam Pro"/>
                <a:cs typeface="Be Vietnam Pro"/>
                <a:sym typeface="Be Vietnam Pro"/>
              </a:rPr>
              <a:t>Cholesterol level in mg/dL</a:t>
            </a:r>
            <a:endParaRPr sz="1300" dirty="0">
              <a:solidFill>
                <a:schemeClr val="tx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A0C38AA-7F9B-309E-DF54-5E11CC3557E6}"/>
              </a:ext>
            </a:extLst>
          </p:cNvPr>
          <p:cNvCxnSpPr>
            <a:endCxn id="38" idx="0"/>
          </p:cNvCxnSpPr>
          <p:nvPr/>
        </p:nvCxnSpPr>
        <p:spPr>
          <a:xfrm rot="16200000" flipH="1">
            <a:off x="3067905" y="3221085"/>
            <a:ext cx="543274" cy="46357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Google Shape;624;p56">
            <a:extLst>
              <a:ext uri="{FF2B5EF4-FFF2-40B4-BE49-F238E27FC236}">
                <a16:creationId xmlns:a16="http://schemas.microsoft.com/office/drawing/2014/main" id="{000C393B-0C00-7B32-A96A-D5AC2DD4B04F}"/>
              </a:ext>
            </a:extLst>
          </p:cNvPr>
          <p:cNvSpPr txBox="1"/>
          <p:nvPr/>
        </p:nvSpPr>
        <p:spPr>
          <a:xfrm flipH="1">
            <a:off x="1832476" y="1042049"/>
            <a:ext cx="2163989" cy="45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  <a:ea typeface="Be Vietnam Pro"/>
                <a:cs typeface="Be Vietnam Pro"/>
                <a:sym typeface="Be Vietnam Pro"/>
              </a:rPr>
              <a:t>Fasting blood sugar : if fasting </a:t>
            </a:r>
          </a:p>
          <a:p>
            <a:pPr lvl="0" algn="ctr">
              <a:lnSpc>
                <a:spcPct val="115000"/>
              </a:lnSpc>
            </a:pP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  <a:ea typeface="Be Vietnam Pro"/>
                <a:cs typeface="Be Vietnam Pro"/>
                <a:sym typeface="Be Vietnam Pro"/>
              </a:rPr>
              <a:t>blood sugar &gt; 120 mg/dL (0/1)</a:t>
            </a:r>
            <a:endParaRPr sz="1300" dirty="0">
              <a:solidFill>
                <a:schemeClr val="tx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6A8195-9D4D-234F-536C-29A0C9C39C5F}"/>
              </a:ext>
            </a:extLst>
          </p:cNvPr>
          <p:cNvSpPr txBox="1"/>
          <p:nvPr/>
        </p:nvSpPr>
        <p:spPr>
          <a:xfrm>
            <a:off x="3746844" y="1307007"/>
            <a:ext cx="1327243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Electrocardiogram results at rest(0</a:t>
            </a: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  <a:sym typeface="Wingdings" panose="05000000000000000000" pitchFamily="2" charset="2"/>
              </a:rPr>
              <a:t>2)</a:t>
            </a:r>
            <a:endParaRPr lang="en-US" sz="1300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9A7FC56B-9187-59C3-31DF-1E54071C4D4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53771" y="2102167"/>
            <a:ext cx="394607" cy="28706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5430E5E-C4A0-80A0-1905-7F358A4FC0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61622" y="1730724"/>
            <a:ext cx="685493" cy="635342"/>
          </a:xfrm>
          <a:prstGeom prst="bentConnector3">
            <a:avLst>
              <a:gd name="adj1" fmla="val 3623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8550036-7C81-CD6B-96F1-EA4840B6006D}"/>
              </a:ext>
            </a:extLst>
          </p:cNvPr>
          <p:cNvSpPr txBox="1"/>
          <p:nvPr/>
        </p:nvSpPr>
        <p:spPr>
          <a:xfrm>
            <a:off x="4509587" y="3618575"/>
            <a:ext cx="12881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Maximum heart rate achieved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211D292-7F55-A1AB-B441-DB96F3DC3AE6}"/>
              </a:ext>
            </a:extLst>
          </p:cNvPr>
          <p:cNvCxnSpPr>
            <a:cxnSpLocks/>
            <a:endCxn id="59" idx="0"/>
          </p:cNvCxnSpPr>
          <p:nvPr/>
        </p:nvCxnSpPr>
        <p:spPr>
          <a:xfrm rot="16200000" flipH="1">
            <a:off x="4661978" y="3126895"/>
            <a:ext cx="539588" cy="44377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C7A91A04-8353-01F9-69ED-5C70F9DAFE33}"/>
              </a:ext>
            </a:extLst>
          </p:cNvPr>
          <p:cNvSpPr txBox="1"/>
          <p:nvPr/>
        </p:nvSpPr>
        <p:spPr>
          <a:xfrm>
            <a:off x="5080221" y="1469814"/>
            <a:ext cx="12189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Chest pain caused by exercise (0/1)</a:t>
            </a:r>
          </a:p>
        </p:txBody>
      </p:sp>
      <p:cxnSp>
        <p:nvCxnSpPr>
          <p:cNvPr id="385" name="Connector: Elbow 384">
            <a:extLst>
              <a:ext uri="{FF2B5EF4-FFF2-40B4-BE49-F238E27FC236}">
                <a16:creationId xmlns:a16="http://schemas.microsoft.com/office/drawing/2014/main" id="{33689E42-3D7E-DFB1-05BC-EBBA177188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58459" y="2102167"/>
            <a:ext cx="394607" cy="28706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: Elbow 385">
            <a:extLst>
              <a:ext uri="{FF2B5EF4-FFF2-40B4-BE49-F238E27FC236}">
                <a16:creationId xmlns:a16="http://schemas.microsoft.com/office/drawing/2014/main" id="{7F473C5E-269D-8FAF-DECE-8648B3C92E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07520" y="3184066"/>
            <a:ext cx="539588" cy="44377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TextBox 387">
            <a:extLst>
              <a:ext uri="{FF2B5EF4-FFF2-40B4-BE49-F238E27FC236}">
                <a16:creationId xmlns:a16="http://schemas.microsoft.com/office/drawing/2014/main" id="{2120BFF4-0F72-9DF1-6A26-9D10498AF98D}"/>
              </a:ext>
            </a:extLst>
          </p:cNvPr>
          <p:cNvSpPr txBox="1"/>
          <p:nvPr/>
        </p:nvSpPr>
        <p:spPr>
          <a:xfrm>
            <a:off x="5655128" y="3724507"/>
            <a:ext cx="1288143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ST depression induced by exercise relative to rest.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8CB11796-2F42-BF8A-5CAD-7BE0393BAFE3}"/>
              </a:ext>
            </a:extLst>
          </p:cNvPr>
          <p:cNvSpPr txBox="1"/>
          <p:nvPr/>
        </p:nvSpPr>
        <p:spPr>
          <a:xfrm>
            <a:off x="6299199" y="1235585"/>
            <a:ext cx="120275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Slope of the peak exercise ST segment(1</a:t>
            </a: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  <a:sym typeface="Wingdings" panose="05000000000000000000" pitchFamily="2" charset="2"/>
              </a:rPr>
              <a:t> 3)</a:t>
            </a:r>
            <a:endParaRPr lang="en-US" sz="1300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</p:txBody>
      </p:sp>
      <p:cxnSp>
        <p:nvCxnSpPr>
          <p:cNvPr id="391" name="Connector: Elbow 390">
            <a:extLst>
              <a:ext uri="{FF2B5EF4-FFF2-40B4-BE49-F238E27FC236}">
                <a16:creationId xmlns:a16="http://schemas.microsoft.com/office/drawing/2014/main" id="{CB43E6D3-4BC6-1FBC-93AF-1F74BD83F30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482593" y="2033207"/>
            <a:ext cx="392262" cy="32360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TextBox 396">
            <a:extLst>
              <a:ext uri="{FF2B5EF4-FFF2-40B4-BE49-F238E27FC236}">
                <a16:creationId xmlns:a16="http://schemas.microsoft.com/office/drawing/2014/main" id="{F42AC602-4A54-D752-65E5-866D9E163237}"/>
              </a:ext>
            </a:extLst>
          </p:cNvPr>
          <p:cNvSpPr txBox="1"/>
          <p:nvPr/>
        </p:nvSpPr>
        <p:spPr>
          <a:xfrm>
            <a:off x="6933514" y="3704307"/>
            <a:ext cx="12189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Number of major blood vessels visible (0–3)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BE969269-9DAD-75C7-B862-99E15584B285}"/>
              </a:ext>
            </a:extLst>
          </p:cNvPr>
          <p:cNvSpPr txBox="1"/>
          <p:nvPr/>
        </p:nvSpPr>
        <p:spPr>
          <a:xfrm>
            <a:off x="7360962" y="1581833"/>
            <a:ext cx="12189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Result of thallium stress test(3,6,7)</a:t>
            </a:r>
          </a:p>
        </p:txBody>
      </p:sp>
      <p:cxnSp>
        <p:nvCxnSpPr>
          <p:cNvPr id="400" name="Connector: Elbow 399">
            <a:extLst>
              <a:ext uri="{FF2B5EF4-FFF2-40B4-BE49-F238E27FC236}">
                <a16:creationId xmlns:a16="http://schemas.microsoft.com/office/drawing/2014/main" id="{AA5FC2F7-7913-081D-495C-91A142D2B4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16981" y="2074605"/>
            <a:ext cx="345011" cy="27427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: Elbow 401">
            <a:extLst>
              <a:ext uri="{FF2B5EF4-FFF2-40B4-BE49-F238E27FC236}">
                <a16:creationId xmlns:a16="http://schemas.microsoft.com/office/drawing/2014/main" id="{165AB3AC-0A0F-5A12-91DC-E5B87219C4B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08631" y="3076695"/>
            <a:ext cx="585131" cy="5765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: Elbow 404">
            <a:extLst>
              <a:ext uri="{FF2B5EF4-FFF2-40B4-BE49-F238E27FC236}">
                <a16:creationId xmlns:a16="http://schemas.microsoft.com/office/drawing/2014/main" id="{94D325C4-5264-7F98-944D-66C3FE5B914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418790" y="1715550"/>
            <a:ext cx="685493" cy="635342"/>
          </a:xfrm>
          <a:prstGeom prst="bentConnector3">
            <a:avLst>
              <a:gd name="adj1" fmla="val 3623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Google Shape;641;p56">
            <a:extLst>
              <a:ext uri="{FF2B5EF4-FFF2-40B4-BE49-F238E27FC236}">
                <a16:creationId xmlns:a16="http://schemas.microsoft.com/office/drawing/2014/main" id="{20BDB7F1-008E-058F-91F5-75730CBBAB11}"/>
              </a:ext>
            </a:extLst>
          </p:cNvPr>
          <p:cNvCxnSpPr>
            <a:cxnSpLocks/>
          </p:cNvCxnSpPr>
          <p:nvPr/>
        </p:nvCxnSpPr>
        <p:spPr>
          <a:xfrm flipH="1">
            <a:off x="7999412" y="2701691"/>
            <a:ext cx="35287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624;p56">
            <a:extLst>
              <a:ext uri="{FF2B5EF4-FFF2-40B4-BE49-F238E27FC236}">
                <a16:creationId xmlns:a16="http://schemas.microsoft.com/office/drawing/2014/main" id="{79CC304E-D5BA-3E76-BDB9-46A2AE836A05}"/>
              </a:ext>
            </a:extLst>
          </p:cNvPr>
          <p:cNvSpPr txBox="1"/>
          <p:nvPr/>
        </p:nvSpPr>
        <p:spPr>
          <a:xfrm flipH="1">
            <a:off x="8175850" y="2384249"/>
            <a:ext cx="991327" cy="45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  <a:ea typeface="Be Vietnam Pro"/>
                <a:cs typeface="Be Vietnam Pro"/>
                <a:sym typeface="Be Vietnam Pro"/>
              </a:rPr>
              <a:t>Disease or no disease (0/1)</a:t>
            </a:r>
            <a:endParaRPr sz="1300" dirty="0">
              <a:solidFill>
                <a:schemeClr val="tx1"/>
              </a:solidFill>
              <a:latin typeface="Bahnschrift Ligh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Bahnschrift SemiBold SemiConden" panose="020B0502040204020203" pitchFamily="34" charset="0"/>
              </a:rPr>
              <a:t>Data Preprocessing </a:t>
            </a:r>
            <a:endParaRPr sz="3500" dirty="0">
              <a:latin typeface="Bahnschrift SemiBold SemiConden" panose="020B0502040204020203" pitchFamily="34" charset="0"/>
            </a:endParaRPr>
          </a:p>
        </p:txBody>
      </p:sp>
      <p:sp>
        <p:nvSpPr>
          <p:cNvPr id="407" name="Google Shape;407;p40"/>
          <p:cNvSpPr txBox="1">
            <a:spLocks noGrp="1"/>
          </p:cNvSpPr>
          <p:nvPr>
            <p:ph type="subTitle" idx="5"/>
          </p:nvPr>
        </p:nvSpPr>
        <p:spPr>
          <a:xfrm>
            <a:off x="1009751" y="1690515"/>
            <a:ext cx="3208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 Light Condensed" panose="020B0502040204020203" pitchFamily="34" charset="0"/>
              </a:rPr>
              <a:t>Missing Values</a:t>
            </a:r>
            <a:endParaRPr dirty="0">
              <a:latin typeface="Bahnschrift Light Condensed" panose="020B0502040204020203" pitchFamily="34" charset="0"/>
            </a:endParaRPr>
          </a:p>
        </p:txBody>
      </p:sp>
      <p:sp>
        <p:nvSpPr>
          <p:cNvPr id="408" name="Google Shape;408;p40"/>
          <p:cNvSpPr txBox="1">
            <a:spLocks noGrp="1"/>
          </p:cNvSpPr>
          <p:nvPr>
            <p:ph type="subTitle" idx="6"/>
          </p:nvPr>
        </p:nvSpPr>
        <p:spPr>
          <a:xfrm>
            <a:off x="5092925" y="1690515"/>
            <a:ext cx="3208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 Light Condensed" panose="020B0502040204020203" pitchFamily="34" charset="0"/>
              </a:rPr>
              <a:t>Binarization</a:t>
            </a:r>
            <a:endParaRPr dirty="0">
              <a:latin typeface="Bahnschrift Light Condensed" panose="020B0502040204020203" pitchFamily="34" charset="0"/>
            </a:endParaRPr>
          </a:p>
        </p:txBody>
      </p:sp>
      <p:sp>
        <p:nvSpPr>
          <p:cNvPr id="409" name="Google Shape;409;p40"/>
          <p:cNvSpPr txBox="1">
            <a:spLocks noGrp="1"/>
          </p:cNvSpPr>
          <p:nvPr>
            <p:ph type="subTitle" idx="7"/>
          </p:nvPr>
        </p:nvSpPr>
        <p:spPr>
          <a:xfrm>
            <a:off x="1009751" y="3123972"/>
            <a:ext cx="3208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hnschrift Light Condensed" panose="020B0502040204020203" pitchFamily="34" charset="0"/>
              </a:rPr>
              <a:t>Conversion</a:t>
            </a:r>
            <a:endParaRPr dirty="0">
              <a:latin typeface="Bahnschrift Light Condensed" panose="020B0502040204020203" pitchFamily="34" charset="0"/>
            </a:endParaRPr>
          </a:p>
        </p:txBody>
      </p:sp>
      <p:sp>
        <p:nvSpPr>
          <p:cNvPr id="410" name="Google Shape;410;p40"/>
          <p:cNvSpPr txBox="1">
            <a:spLocks noGrp="1"/>
          </p:cNvSpPr>
          <p:nvPr>
            <p:ph type="subTitle" idx="8"/>
          </p:nvPr>
        </p:nvSpPr>
        <p:spPr>
          <a:xfrm>
            <a:off x="5207330" y="3123972"/>
            <a:ext cx="3208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 Light Condensed" panose="020B0502040204020203" pitchFamily="34" charset="0"/>
              </a:rPr>
              <a:t>Standarization-Scaling</a:t>
            </a:r>
            <a:endParaRPr dirty="0">
              <a:latin typeface="Bahnschrift Light Condensed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F263D-A065-43D5-80A6-29789DD46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526" y="2148698"/>
            <a:ext cx="2266950" cy="390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11A1AA-7F36-3C02-FF3F-C6B51F00F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034" y="2192692"/>
            <a:ext cx="3404281" cy="358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B5D31D-A250-E724-9974-6DF00F997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53" y="3668749"/>
            <a:ext cx="3822547" cy="4725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ECFB49-1AD9-9107-9EDB-C194AF55A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5751" y="3529572"/>
            <a:ext cx="3771659" cy="776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4"/>
          <p:cNvSpPr txBox="1">
            <a:spLocks noGrp="1"/>
          </p:cNvSpPr>
          <p:nvPr>
            <p:ph type="title"/>
          </p:nvPr>
        </p:nvSpPr>
        <p:spPr>
          <a:xfrm>
            <a:off x="2430628" y="348345"/>
            <a:ext cx="3933886" cy="5878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latin typeface="Bahnschrift SemiBold Condensed" panose="020B0502040204020203" pitchFamily="34" charset="0"/>
              </a:rPr>
              <a:t>Summary statictics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BADE2-8FF9-51A5-9C62-EB59CAB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65" y="1204230"/>
            <a:ext cx="7698240" cy="32298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41CEAB-43EA-BC36-FC17-D99AE83DE962}"/>
              </a:ext>
            </a:extLst>
          </p:cNvPr>
          <p:cNvSpPr/>
          <p:nvPr/>
        </p:nvSpPr>
        <p:spPr>
          <a:xfrm>
            <a:off x="732971" y="2002971"/>
            <a:ext cx="7576458" cy="304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111E00-890A-AA46-1BA9-1B5123C44738}"/>
              </a:ext>
            </a:extLst>
          </p:cNvPr>
          <p:cNvSpPr/>
          <p:nvPr/>
        </p:nvSpPr>
        <p:spPr>
          <a:xfrm>
            <a:off x="1349828" y="2683330"/>
            <a:ext cx="1204686" cy="304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F099C-D24B-EB1B-3502-5190A206F73F}"/>
              </a:ext>
            </a:extLst>
          </p:cNvPr>
          <p:cNvSpPr/>
          <p:nvPr/>
        </p:nvSpPr>
        <p:spPr>
          <a:xfrm>
            <a:off x="3795228" y="4054930"/>
            <a:ext cx="1204686" cy="304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"/>
          <p:cNvSpPr txBox="1">
            <a:spLocks noGrp="1"/>
          </p:cNvSpPr>
          <p:nvPr>
            <p:ph type="title"/>
          </p:nvPr>
        </p:nvSpPr>
        <p:spPr>
          <a:xfrm>
            <a:off x="0" y="-413964"/>
            <a:ext cx="4332900" cy="153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Understanding our Data using statistical graphs (EDA)</a:t>
            </a:r>
            <a:endParaRPr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2C2AB6-4C06-347A-D5A8-001AF805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73" y="1341007"/>
            <a:ext cx="3447398" cy="292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9952533-6C6C-1BF4-F69D-DC3F15095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825" y="416350"/>
            <a:ext cx="4531602" cy="339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3F5956-D1AF-B9CA-BB0F-C5B875018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901" y="3950579"/>
            <a:ext cx="5327099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-Age </a:t>
            </a:r>
            <a:r>
              <a:rPr lang="en-US" alt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: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lang="en-US" alt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heart disease risk increases with age (affect middle </a:t>
            </a:r>
            <a:r>
              <a:rPr lang="en-US" altLang="en-US" sz="1300" dirty="0" err="1">
                <a:solidFill>
                  <a:schemeClr val="tx1"/>
                </a:solidFill>
                <a:latin typeface="Bahnschrift Light Condensed" panose="020B0502040204020203" pitchFamily="34" charset="0"/>
              </a:rPr>
              <a:t>aged~normal</a:t>
            </a:r>
            <a:r>
              <a:rPr lang="en-US" alt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distribution)</a:t>
            </a:r>
            <a:endParaRPr kumimoji="0" lang="en-US" altLang="en-US" sz="1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-Chol 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shows right-skew : some patients have high cholesterol.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Oldpeak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is very skewed : high values may indicate reduced blood flow to the heart.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Thalach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 : 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Lower maximum heart rate during exercise is often seen in heart disease patients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Trestbps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:</a:t>
            </a: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Many patients have elevated blood pressure, a known risk factor for heart disease</a:t>
            </a:r>
            <a:endParaRPr kumimoji="0" lang="en-US" altLang="en-US" sz="1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8881F-E8CA-46FF-ADAC-5BF40DB19A48}"/>
              </a:ext>
            </a:extLst>
          </p:cNvPr>
          <p:cNvSpPr txBox="1"/>
          <p:nvPr/>
        </p:nvSpPr>
        <p:spPr>
          <a:xfrm>
            <a:off x="1043086" y="4426857"/>
            <a:ext cx="20283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~Balanced Dataset = Good sign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ADAB6AF-6D44-432F-3511-FA7EE4AD2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70" y="2424357"/>
            <a:ext cx="4004771" cy="266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9240761-1610-1D5E-9DA0-8F0075449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99" y="58057"/>
            <a:ext cx="4149914" cy="223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6A09BFB-D12D-920B-AFB2-E0E9EF00E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3" y="1821543"/>
            <a:ext cx="4287798" cy="317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9">
            <a:extLst>
              <a:ext uri="{FF2B5EF4-FFF2-40B4-BE49-F238E27FC236}">
                <a16:creationId xmlns:a16="http://schemas.microsoft.com/office/drawing/2014/main" id="{C152DD9D-C38C-E378-3A4D-2FCAF5B9A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22803" y="166277"/>
            <a:ext cx="4287798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1-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Chol,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oldpeak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, and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trestbps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have outliers.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Oldpeak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has extreme values (severe cases) </a:t>
            </a:r>
            <a:r>
              <a:rPr lang="en-US" altLang="en-US" sz="1300" b="0" dirty="0">
                <a:solidFill>
                  <a:schemeClr val="tx1"/>
                </a:solidFill>
                <a:latin typeface="Bahnschrift Light Condensed" panose="020B0502040204020203" pitchFamily="34" charset="0"/>
                <a:sym typeface="Wingdings" panose="05000000000000000000" pitchFamily="2" charset="2"/>
              </a:rPr>
              <a:t>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lang="en-US" altLang="en-US" sz="1300" b="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R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eflect real medical diversity in patients and help models learn disease patterns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2-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Target is strongly correlated with lower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thalach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, higher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oldpeak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, chest pain type, exercise-induced angina </a:t>
            </a:r>
            <a:r>
              <a:rPr lang="en-US" altLang="en-US" sz="1300" b="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: clinical signs of poor cardiac function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3-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Patients with disease (orange) : lower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thalach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, higher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oldpeak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, different chest pain patterns.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A7D871-AF1E-4EDF-3704-9D48A2ECF6DE}"/>
              </a:ext>
            </a:extLst>
          </p:cNvPr>
          <p:cNvSpPr/>
          <p:nvPr/>
        </p:nvSpPr>
        <p:spPr>
          <a:xfrm>
            <a:off x="3287486" y="4051303"/>
            <a:ext cx="558800" cy="508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EB771F-CB35-41E3-801E-5E806B9FB8CD}"/>
              </a:ext>
            </a:extLst>
          </p:cNvPr>
          <p:cNvSpPr/>
          <p:nvPr/>
        </p:nvSpPr>
        <p:spPr>
          <a:xfrm>
            <a:off x="8531498" y="1746047"/>
            <a:ext cx="515822" cy="4334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C15982-920F-F694-8FCC-19C7FA8331FB}"/>
              </a:ext>
            </a:extLst>
          </p:cNvPr>
          <p:cNvSpPr/>
          <p:nvPr/>
        </p:nvSpPr>
        <p:spPr>
          <a:xfrm>
            <a:off x="3287486" y="4051303"/>
            <a:ext cx="558800" cy="5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C9C10E-2709-0441-563D-6CA4EF2AB982}"/>
              </a:ext>
            </a:extLst>
          </p:cNvPr>
          <p:cNvSpPr/>
          <p:nvPr/>
        </p:nvSpPr>
        <p:spPr>
          <a:xfrm>
            <a:off x="4088237" y="1940813"/>
            <a:ext cx="386357" cy="39417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50E5DC-5DE8-50BE-F879-3458D6FED7C9}"/>
              </a:ext>
            </a:extLst>
          </p:cNvPr>
          <p:cNvSpPr txBox="1"/>
          <p:nvPr/>
        </p:nvSpPr>
        <p:spPr>
          <a:xfrm>
            <a:off x="4161969" y="1984009"/>
            <a:ext cx="341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09A6F9-8E51-07A7-2517-C1E2D5B12119}"/>
              </a:ext>
            </a:extLst>
          </p:cNvPr>
          <p:cNvSpPr txBox="1"/>
          <p:nvPr/>
        </p:nvSpPr>
        <p:spPr>
          <a:xfrm>
            <a:off x="3431098" y="4136026"/>
            <a:ext cx="35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5D654C-2C16-F452-3A7E-D90EAA7ED86F}"/>
              </a:ext>
            </a:extLst>
          </p:cNvPr>
          <p:cNvSpPr txBox="1"/>
          <p:nvPr/>
        </p:nvSpPr>
        <p:spPr>
          <a:xfrm>
            <a:off x="8660232" y="1768381"/>
            <a:ext cx="35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title"/>
          </p:nvPr>
        </p:nvSpPr>
        <p:spPr>
          <a:xfrm>
            <a:off x="502286" y="199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>
                <a:latin typeface="Bahnschrift SemiBold" panose="020B0502040204020203" pitchFamily="34" charset="0"/>
              </a:rPr>
              <a:t>Training and Testing Spliting </a:t>
            </a:r>
            <a:endParaRPr sz="5500" dirty="0">
              <a:latin typeface="Bahnschrift SemiBold" panose="020B0502040204020203" pitchFamily="34" charset="0"/>
            </a:endParaRPr>
          </a:p>
        </p:txBody>
      </p:sp>
      <p:sp>
        <p:nvSpPr>
          <p:cNvPr id="362" name="Google Shape;362;p38"/>
          <p:cNvSpPr txBox="1">
            <a:spLocks noGrp="1"/>
          </p:cNvSpPr>
          <p:nvPr>
            <p:ph type="subTitle" idx="3"/>
          </p:nvPr>
        </p:nvSpPr>
        <p:spPr>
          <a:xfrm>
            <a:off x="5919675" y="3911086"/>
            <a:ext cx="26481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Bahnschrift Condensed" panose="020B0502040204020203" pitchFamily="34" charset="0"/>
              </a:rPr>
              <a:t>20% </a:t>
            </a:r>
            <a:endParaRPr sz="3000" dirty="0">
              <a:latin typeface="Bahnschrift Condensed" panose="020B0502040204020203" pitchFamily="34" charset="0"/>
            </a:endParaRPr>
          </a:p>
        </p:txBody>
      </p:sp>
      <p:sp>
        <p:nvSpPr>
          <p:cNvPr id="363" name="Google Shape;363;p38"/>
          <p:cNvSpPr txBox="1">
            <a:spLocks noGrp="1"/>
          </p:cNvSpPr>
          <p:nvPr>
            <p:ph type="subTitle" idx="4"/>
          </p:nvPr>
        </p:nvSpPr>
        <p:spPr>
          <a:xfrm>
            <a:off x="841829" y="851765"/>
            <a:ext cx="26481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Bahnschrift Condensed" panose="020B0502040204020203" pitchFamily="34" charset="0"/>
              </a:rPr>
              <a:t>80%</a:t>
            </a:r>
            <a:endParaRPr sz="3000" dirty="0">
              <a:latin typeface="Bahnschrift Condensed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245F00-DA28-E655-6FCD-CB881BF9A8C7}"/>
              </a:ext>
            </a:extLst>
          </p:cNvPr>
          <p:cNvSpPr/>
          <p:nvPr/>
        </p:nvSpPr>
        <p:spPr>
          <a:xfrm>
            <a:off x="965200" y="566056"/>
            <a:ext cx="2227942" cy="9016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D3209-5623-752C-EF76-802AED986752}"/>
              </a:ext>
            </a:extLst>
          </p:cNvPr>
          <p:cNvSpPr/>
          <p:nvPr/>
        </p:nvSpPr>
        <p:spPr>
          <a:xfrm>
            <a:off x="6074229" y="3643085"/>
            <a:ext cx="2227942" cy="9016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42C5FB-5D6E-933A-5FDE-3A0C23F12355}"/>
              </a:ext>
            </a:extLst>
          </p:cNvPr>
          <p:cNvCxnSpPr>
            <a:stCxn id="4" idx="2"/>
          </p:cNvCxnSpPr>
          <p:nvPr/>
        </p:nvCxnSpPr>
        <p:spPr>
          <a:xfrm>
            <a:off x="2079171" y="1467750"/>
            <a:ext cx="0" cy="593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DD37C4-F90A-E200-C37C-27ECE6CC4ED1}"/>
              </a:ext>
            </a:extLst>
          </p:cNvPr>
          <p:cNvCxnSpPr/>
          <p:nvPr/>
        </p:nvCxnSpPr>
        <p:spPr>
          <a:xfrm>
            <a:off x="7254610" y="3049806"/>
            <a:ext cx="0" cy="593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EBC2CDBA-6208-B45D-2331-0049DC57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751;p60">
            <a:extLst>
              <a:ext uri="{FF2B5EF4-FFF2-40B4-BE49-F238E27FC236}">
                <a16:creationId xmlns:a16="http://schemas.microsoft.com/office/drawing/2014/main" id="{F5CB54C5-105A-C945-BAA1-AB9E4C0F5C62}"/>
              </a:ext>
            </a:extLst>
          </p:cNvPr>
          <p:cNvGrpSpPr/>
          <p:nvPr/>
        </p:nvGrpSpPr>
        <p:grpSpPr>
          <a:xfrm>
            <a:off x="5524312" y="1918692"/>
            <a:ext cx="3432984" cy="2442851"/>
            <a:chOff x="331763" y="414153"/>
            <a:chExt cx="6903246" cy="5019697"/>
          </a:xfrm>
        </p:grpSpPr>
        <p:sp>
          <p:nvSpPr>
            <p:cNvPr id="8" name="Google Shape;752;p60">
              <a:extLst>
                <a:ext uri="{FF2B5EF4-FFF2-40B4-BE49-F238E27FC236}">
                  <a16:creationId xmlns:a16="http://schemas.microsoft.com/office/drawing/2014/main" id="{4A072F04-DC59-4889-D0C0-0BB06970E596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53;p60">
              <a:extLst>
                <a:ext uri="{FF2B5EF4-FFF2-40B4-BE49-F238E27FC236}">
                  <a16:creationId xmlns:a16="http://schemas.microsoft.com/office/drawing/2014/main" id="{83B5A702-508E-72EB-95BC-EB27F0213B32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54;p60">
              <a:extLst>
                <a:ext uri="{FF2B5EF4-FFF2-40B4-BE49-F238E27FC236}">
                  <a16:creationId xmlns:a16="http://schemas.microsoft.com/office/drawing/2014/main" id="{9151566B-7430-B068-DDC7-38C62D54B10C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43">
            <a:extLst>
              <a:ext uri="{FF2B5EF4-FFF2-40B4-BE49-F238E27FC236}">
                <a16:creationId xmlns:a16="http://schemas.microsoft.com/office/drawing/2014/main" id="{8604A506-B03A-3EDC-E8FE-FE0F32B6C3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375" y="340270"/>
            <a:ext cx="3469197" cy="8275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Cross Validation 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8AAA4-81AB-40B2-94A8-94BC211C0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280" y="2040619"/>
            <a:ext cx="3170920" cy="18036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F041367-0736-E698-F11D-03C2FD9F98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8148" y="2000133"/>
            <a:ext cx="48595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KNN and SVM performed best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accuracy around 82–83%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+ low variability → generalize well</a:t>
            </a:r>
            <a:r>
              <a:rPr lang="en-US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Random Forest performed strongly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, with slightly higher variance.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Decision Tree performed worst</a:t>
            </a:r>
            <a:r>
              <a:rPr lang="en-US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overfitting and instability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A2F647-4973-62B7-68C6-66629CB31B69}"/>
              </a:ext>
            </a:extLst>
          </p:cNvPr>
          <p:cNvSpPr txBox="1"/>
          <p:nvPr/>
        </p:nvSpPr>
        <p:spPr>
          <a:xfrm>
            <a:off x="4339680" y="375239"/>
            <a:ext cx="45580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Repeats training/testing on different splits</a:t>
            </a:r>
          </a:p>
          <a:p>
            <a:r>
              <a:rPr lang="en-US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Ensures model generalizes well</a:t>
            </a:r>
          </a:p>
          <a:p>
            <a:r>
              <a:rPr lang="en-US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Avoids lucky/unlucky train-test split results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Compare model performance fairly and avoid overfitting.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D1058-A124-A202-B5A9-BA4A237A6EC2}"/>
              </a:ext>
            </a:extLst>
          </p:cNvPr>
          <p:cNvCxnSpPr>
            <a:cxnSpLocks/>
          </p:cNvCxnSpPr>
          <p:nvPr/>
        </p:nvCxnSpPr>
        <p:spPr>
          <a:xfrm flipV="1">
            <a:off x="3839029" y="522132"/>
            <a:ext cx="529784" cy="290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0F927E-4430-6532-0C9E-705101D06552}"/>
              </a:ext>
            </a:extLst>
          </p:cNvPr>
          <p:cNvCxnSpPr>
            <a:cxnSpLocks/>
          </p:cNvCxnSpPr>
          <p:nvPr/>
        </p:nvCxnSpPr>
        <p:spPr>
          <a:xfrm flipV="1">
            <a:off x="3839029" y="751376"/>
            <a:ext cx="558800" cy="106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DD396B-45DE-437A-E3CA-6ACA80646D6B}"/>
              </a:ext>
            </a:extLst>
          </p:cNvPr>
          <p:cNvCxnSpPr>
            <a:cxnSpLocks/>
          </p:cNvCxnSpPr>
          <p:nvPr/>
        </p:nvCxnSpPr>
        <p:spPr>
          <a:xfrm>
            <a:off x="3839029" y="893813"/>
            <a:ext cx="500651" cy="54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44DE43-C5BB-84A8-B6EB-B81034F341C3}"/>
              </a:ext>
            </a:extLst>
          </p:cNvPr>
          <p:cNvCxnSpPr>
            <a:cxnSpLocks/>
          </p:cNvCxnSpPr>
          <p:nvPr/>
        </p:nvCxnSpPr>
        <p:spPr>
          <a:xfrm>
            <a:off x="3831588" y="948013"/>
            <a:ext cx="508092" cy="184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67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 SemiBold" panose="020B0502040204020203" pitchFamily="34" charset="0"/>
              </a:rPr>
              <a:t>Hyperparameter Tuning</a:t>
            </a:r>
            <a:endParaRPr dirty="0">
              <a:latin typeface="Bahnschrift SemiBold" panose="020B0502040204020203" pitchFamily="34" charset="0"/>
            </a:endParaRPr>
          </a:p>
        </p:txBody>
      </p:sp>
      <p:graphicFrame>
        <p:nvGraphicFramePr>
          <p:cNvPr id="522" name="Google Shape;522;p49"/>
          <p:cNvGraphicFramePr/>
          <p:nvPr>
            <p:extLst>
              <p:ext uri="{D42A27DB-BD31-4B8C-83A1-F6EECF244321}">
                <p14:modId xmlns:p14="http://schemas.microsoft.com/office/powerpoint/2010/main" val="927679402"/>
              </p:ext>
            </p:extLst>
          </p:nvPr>
        </p:nvGraphicFramePr>
        <p:xfrm>
          <a:off x="720000" y="1307724"/>
          <a:ext cx="7704000" cy="3189324"/>
        </p:xfrm>
        <a:graphic>
          <a:graphicData uri="http://schemas.openxmlformats.org/drawingml/2006/table">
            <a:tbl>
              <a:tblPr>
                <a:noFill/>
                <a:tableStyleId>{B85F4A0A-5E61-4C02-876E-661CF7420189}</a:tableStyleId>
              </a:tblPr>
              <a:tblGrid>
                <a:gridCol w="254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554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 b="1" dirty="0">
                          <a:solidFill>
                            <a:schemeClr val="accent1"/>
                          </a:solidFill>
                          <a:latin typeface="Bahnschrift Light Condensed" panose="020B0502040204020203" pitchFamily="34" charset="0"/>
                          <a:ea typeface="Be Vietnam Pro"/>
                          <a:cs typeface="Be Vietnam Pro"/>
                          <a:sym typeface="Be Vietnam Pro"/>
                        </a:rPr>
                        <a:t>  What does it do</a:t>
                      </a:r>
                      <a:endParaRPr sz="1900" b="1" dirty="0">
                        <a:solidFill>
                          <a:schemeClr val="accent1"/>
                        </a:solidFill>
                        <a:latin typeface="Bahnschrift Ligh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Automatically finds the best parameters for each model</a:t>
                      </a:r>
                      <a:endParaRPr sz="1900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Uses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GridSearchCV</a:t>
                      </a:r>
                      <a:endParaRPr sz="1900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554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 b="1" dirty="0">
                          <a:solidFill>
                            <a:schemeClr val="accent1"/>
                          </a:solidFill>
                          <a:latin typeface="Bahnschrift Light Condensed" panose="020B0502040204020203" pitchFamily="34" charset="0"/>
                          <a:ea typeface="Be Vietnam Pro"/>
                          <a:cs typeface="Be Vietnam Pro"/>
                          <a:sym typeface="Be Vietnam Pro"/>
                        </a:rPr>
                        <a:t>             Importance </a:t>
                      </a:r>
                      <a:endParaRPr sz="1900" b="1" dirty="0">
                        <a:solidFill>
                          <a:schemeClr val="accent1"/>
                        </a:solidFill>
                        <a:latin typeface="Bahnschrift Ligh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dk1"/>
                          </a:solidFill>
                          <a:latin typeface="Bahnschrift Ligh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Improves accuracy</a:t>
                      </a:r>
                      <a:endParaRPr sz="1900" dirty="0">
                        <a:solidFill>
                          <a:schemeClr val="dk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Reduces overfitting</a:t>
                      </a:r>
                      <a:endParaRPr sz="1900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554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 b="1" dirty="0">
                          <a:solidFill>
                            <a:schemeClr val="accent1"/>
                          </a:solidFill>
                          <a:latin typeface="Bahnschrift Light Condensed" panose="020B0502040204020203" pitchFamily="34" charset="0"/>
                          <a:ea typeface="Be Vietnam Pro"/>
                          <a:cs typeface="Be Vietnam Pro"/>
                          <a:sym typeface="Be Vietnam Pro"/>
                        </a:rPr>
                        <a:t>            Models tuned </a:t>
                      </a:r>
                      <a:endParaRPr sz="1900" b="1" dirty="0">
                        <a:solidFill>
                          <a:schemeClr val="accent1"/>
                        </a:solidFill>
                        <a:latin typeface="Bahnschrift Ligh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KNN, Decision Tree, Random Forest, SVM</a:t>
                      </a:r>
                      <a:endParaRPr sz="1900"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solidFill>
                          <a:schemeClr val="dk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693485B-01E9-022B-0085-351BF5BBC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829" y="4032352"/>
            <a:ext cx="4961744" cy="4197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phic 6" descr="Diamond outline">
            <a:extLst>
              <a:ext uri="{FF2B5EF4-FFF2-40B4-BE49-F238E27FC236}">
                <a16:creationId xmlns:a16="http://schemas.microsoft.com/office/drawing/2014/main" id="{2DF8037A-C52B-FA2D-1B01-3D990D663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171" y="2673786"/>
            <a:ext cx="457200" cy="457200"/>
          </a:xfrm>
          <a:prstGeom prst="rect">
            <a:avLst/>
          </a:prstGeom>
        </p:spPr>
      </p:pic>
      <p:pic>
        <p:nvPicPr>
          <p:cNvPr id="9" name="Graphic 8" descr="Drawing Figure with solid fill">
            <a:extLst>
              <a:ext uri="{FF2B5EF4-FFF2-40B4-BE49-F238E27FC236}">
                <a16:creationId xmlns:a16="http://schemas.microsoft.com/office/drawing/2014/main" id="{22D2BF60-E643-95E9-E707-D7188A6559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4170" y="1576960"/>
            <a:ext cx="457201" cy="457201"/>
          </a:xfrm>
          <a:prstGeom prst="rect">
            <a:avLst/>
          </a:prstGeom>
        </p:spPr>
      </p:pic>
      <p:pic>
        <p:nvPicPr>
          <p:cNvPr id="11" name="Graphic 10" descr="Robot Hand with solid fill">
            <a:extLst>
              <a:ext uri="{FF2B5EF4-FFF2-40B4-BE49-F238E27FC236}">
                <a16:creationId xmlns:a16="http://schemas.microsoft.com/office/drawing/2014/main" id="{FD2E7869-D893-081E-6750-B39C767651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4170" y="3727695"/>
            <a:ext cx="419726" cy="41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>
          <a:extLst>
            <a:ext uri="{FF2B5EF4-FFF2-40B4-BE49-F238E27FC236}">
              <a16:creationId xmlns:a16="http://schemas.microsoft.com/office/drawing/2014/main" id="{C4B1E5C7-8E0A-46CF-DDF5-915E2EEAD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2">
            <a:extLst>
              <a:ext uri="{FF2B5EF4-FFF2-40B4-BE49-F238E27FC236}">
                <a16:creationId xmlns:a16="http://schemas.microsoft.com/office/drawing/2014/main" id="{58E8582A-68CA-0624-E51D-C802059F5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873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Process</a:t>
            </a:r>
            <a:r>
              <a:rPr lang="en" dirty="0">
                <a:latin typeface="Bahnschrift Condensed" panose="020B0502040204020203" pitchFamily="34" charset="0"/>
              </a:rPr>
              <a:t> </a:t>
            </a:r>
            <a:endParaRPr dirty="0">
              <a:latin typeface="Bahnschrift Condensed" panose="020B0502040204020203" pitchFamily="34" charset="0"/>
            </a:endParaRPr>
          </a:p>
        </p:txBody>
      </p:sp>
      <p:sp>
        <p:nvSpPr>
          <p:cNvPr id="564" name="Google Shape;564;p52">
            <a:extLst>
              <a:ext uri="{FF2B5EF4-FFF2-40B4-BE49-F238E27FC236}">
                <a16:creationId xmlns:a16="http://schemas.microsoft.com/office/drawing/2014/main" id="{670C647F-A4B0-8CEE-54C7-25760413F4C2}"/>
              </a:ext>
            </a:extLst>
          </p:cNvPr>
          <p:cNvSpPr txBox="1"/>
          <p:nvPr/>
        </p:nvSpPr>
        <p:spPr>
          <a:xfrm>
            <a:off x="502287" y="2531446"/>
            <a:ext cx="2338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solidFill>
                  <a:schemeClr val="dk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Train </a:t>
            </a:r>
            <a:endParaRPr sz="3500" b="1" dirty="0">
              <a:solidFill>
                <a:schemeClr val="dk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66" name="Google Shape;566;p52">
            <a:extLst>
              <a:ext uri="{FF2B5EF4-FFF2-40B4-BE49-F238E27FC236}">
                <a16:creationId xmlns:a16="http://schemas.microsoft.com/office/drawing/2014/main" id="{B48EE435-AACE-E2FA-0CCB-801CDEED20CF}"/>
              </a:ext>
            </a:extLst>
          </p:cNvPr>
          <p:cNvSpPr txBox="1"/>
          <p:nvPr/>
        </p:nvSpPr>
        <p:spPr>
          <a:xfrm>
            <a:off x="3057833" y="2531446"/>
            <a:ext cx="2338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solidFill>
                  <a:schemeClr val="dk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Predict    </a:t>
            </a:r>
            <a:endParaRPr sz="3500" b="1" dirty="0">
              <a:solidFill>
                <a:schemeClr val="dk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68" name="Google Shape;568;p52">
            <a:extLst>
              <a:ext uri="{FF2B5EF4-FFF2-40B4-BE49-F238E27FC236}">
                <a16:creationId xmlns:a16="http://schemas.microsoft.com/office/drawing/2014/main" id="{62FA06B4-3380-5E84-BDA7-42078035DB6D}"/>
              </a:ext>
            </a:extLst>
          </p:cNvPr>
          <p:cNvSpPr txBox="1"/>
          <p:nvPr/>
        </p:nvSpPr>
        <p:spPr>
          <a:xfrm>
            <a:off x="5999418" y="2531446"/>
            <a:ext cx="2338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solidFill>
                  <a:schemeClr val="dk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Evaluate</a:t>
            </a:r>
            <a:endParaRPr sz="3500" b="1" dirty="0">
              <a:solidFill>
                <a:schemeClr val="dk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575" name="Google Shape;575;p52">
            <a:extLst>
              <a:ext uri="{FF2B5EF4-FFF2-40B4-BE49-F238E27FC236}">
                <a16:creationId xmlns:a16="http://schemas.microsoft.com/office/drawing/2014/main" id="{084774C2-290B-DF80-B905-0D12695864DC}"/>
              </a:ext>
            </a:extLst>
          </p:cNvPr>
          <p:cNvCxnSpPr>
            <a:cxnSpLocks/>
          </p:cNvCxnSpPr>
          <p:nvPr/>
        </p:nvCxnSpPr>
        <p:spPr>
          <a:xfrm>
            <a:off x="2576286" y="2616346"/>
            <a:ext cx="3438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76" name="Google Shape;576;p52">
            <a:extLst>
              <a:ext uri="{FF2B5EF4-FFF2-40B4-BE49-F238E27FC236}">
                <a16:creationId xmlns:a16="http://schemas.microsoft.com/office/drawing/2014/main" id="{178BF0F4-AA44-F8A7-2042-EB5C98A3FB06}"/>
              </a:ext>
            </a:extLst>
          </p:cNvPr>
          <p:cNvCxnSpPr>
            <a:cxnSpLocks/>
          </p:cNvCxnSpPr>
          <p:nvPr/>
        </p:nvCxnSpPr>
        <p:spPr>
          <a:xfrm>
            <a:off x="5362480" y="2616346"/>
            <a:ext cx="3438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4E80C87-65E0-94FE-4A71-257377BB5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1" y="3136148"/>
            <a:ext cx="1732915" cy="331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8A980C-63E4-FD73-3698-865A4AC7F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664" y="3136147"/>
            <a:ext cx="1621138" cy="331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17357B-953B-49C2-1472-F9E87656D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295" y="3136147"/>
            <a:ext cx="3447045" cy="331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79ADF2-5CF0-686D-FBCB-D9E5DCA57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7696" y="3648265"/>
            <a:ext cx="2240522" cy="4548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Graphic 12" descr="Future outline">
            <a:extLst>
              <a:ext uri="{FF2B5EF4-FFF2-40B4-BE49-F238E27FC236}">
                <a16:creationId xmlns:a16="http://schemas.microsoft.com/office/drawing/2014/main" id="{B609C17C-E3F8-60ED-AF23-F8499840A5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88998" y="1551131"/>
            <a:ext cx="820827" cy="820827"/>
          </a:xfrm>
          <a:prstGeom prst="rect">
            <a:avLst/>
          </a:prstGeom>
        </p:spPr>
      </p:pic>
      <p:pic>
        <p:nvPicPr>
          <p:cNvPr id="15" name="Graphic 14" descr="Checkbox Checked outline">
            <a:extLst>
              <a:ext uri="{FF2B5EF4-FFF2-40B4-BE49-F238E27FC236}">
                <a16:creationId xmlns:a16="http://schemas.microsoft.com/office/drawing/2014/main" id="{5D23E7CA-1BAB-2724-2988-82317B7653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1617" y="1504947"/>
            <a:ext cx="914400" cy="914400"/>
          </a:xfrm>
          <a:prstGeom prst="rect">
            <a:avLst/>
          </a:prstGeom>
        </p:spPr>
      </p:pic>
      <p:pic>
        <p:nvPicPr>
          <p:cNvPr id="17" name="Graphic 16" descr="Teacher outline">
            <a:extLst>
              <a:ext uri="{FF2B5EF4-FFF2-40B4-BE49-F238E27FC236}">
                <a16:creationId xmlns:a16="http://schemas.microsoft.com/office/drawing/2014/main" id="{7DB98020-DE60-96CE-483D-81A89B1D97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4487" y="14869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52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3"/>
          <p:cNvSpPr txBox="1">
            <a:spLocks noGrp="1"/>
          </p:cNvSpPr>
          <p:nvPr>
            <p:ph type="title"/>
          </p:nvPr>
        </p:nvSpPr>
        <p:spPr>
          <a:xfrm>
            <a:off x="598172" y="15208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Bahnschrift Condensed" panose="020B0502040204020203" pitchFamily="34" charset="0"/>
              </a:rPr>
              <a:t>Output</a:t>
            </a:r>
            <a:r>
              <a:rPr lang="en" dirty="0"/>
              <a:t> </a:t>
            </a:r>
            <a:endParaRPr dirty="0"/>
          </a:p>
        </p:txBody>
      </p:sp>
      <p:graphicFrame>
        <p:nvGraphicFramePr>
          <p:cNvPr id="585" name="Google Shape;585;p53"/>
          <p:cNvGraphicFramePr/>
          <p:nvPr>
            <p:extLst>
              <p:ext uri="{D42A27DB-BD31-4B8C-83A1-F6EECF244321}">
                <p14:modId xmlns:p14="http://schemas.microsoft.com/office/powerpoint/2010/main" val="3290577891"/>
              </p:ext>
            </p:extLst>
          </p:nvPr>
        </p:nvGraphicFramePr>
        <p:xfrm>
          <a:off x="720000" y="1044636"/>
          <a:ext cx="7704000" cy="3263564"/>
        </p:xfrm>
        <a:graphic>
          <a:graphicData uri="http://schemas.openxmlformats.org/drawingml/2006/table">
            <a:tbl>
              <a:tblPr>
                <a:noFill/>
                <a:tableStyleId>{B85F4A0A-5E61-4C02-876E-661CF7420189}</a:tableStyleId>
              </a:tblPr>
              <a:tblGrid>
                <a:gridCol w="19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896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accent1"/>
                          </a:solidFill>
                          <a:latin typeface="Bahnschrift Condensed" panose="020B0502040204020203" pitchFamily="34" charset="0"/>
                          <a:ea typeface="Be Vietnam Pro"/>
                          <a:cs typeface="Be Vietnam Pro"/>
                          <a:sym typeface="Be Vietnam Pro"/>
                        </a:rPr>
                        <a:t>Precision</a:t>
                      </a:r>
                      <a:endParaRPr sz="2000" b="1" dirty="0">
                        <a:solidFill>
                          <a:schemeClr val="accent1"/>
                        </a:solidFill>
                        <a:latin typeface="Bahnschrif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accent1"/>
                          </a:solidFill>
                          <a:latin typeface="Bahnschrift Condensed" panose="020B0502040204020203" pitchFamily="34" charset="0"/>
                          <a:ea typeface="Be Vietnam Pro"/>
                          <a:cs typeface="Be Vietnam Pro"/>
                          <a:sym typeface="Be Vietnam Pro"/>
                        </a:rPr>
                        <a:t>Recall </a:t>
                      </a:r>
                      <a:endParaRPr sz="2000" b="1" dirty="0">
                        <a:solidFill>
                          <a:schemeClr val="accent1"/>
                        </a:solidFill>
                        <a:latin typeface="Bahnschrif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accent1"/>
                          </a:solidFill>
                          <a:latin typeface="Bahnschrift Condensed" panose="020B0502040204020203" pitchFamily="34" charset="0"/>
                          <a:ea typeface="Be Vietnam Pro"/>
                          <a:cs typeface="Be Vietnam Pro"/>
                          <a:sym typeface="Be Vietnam Pro"/>
                        </a:rPr>
                        <a:t>F1 score</a:t>
                      </a:r>
                      <a:endParaRPr sz="2000" b="1" dirty="0">
                        <a:solidFill>
                          <a:schemeClr val="accent1"/>
                        </a:solidFill>
                        <a:latin typeface="Bahnschrif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accent1"/>
                          </a:solidFill>
                          <a:latin typeface="Bahnschrift Condensed" panose="020B0502040204020203" pitchFamily="34" charset="0"/>
                          <a:ea typeface="Be Vietnam Pro"/>
                          <a:cs typeface="Be Vietnam Pro"/>
                          <a:sym typeface="Be Vietnam Pro"/>
                        </a:rPr>
                        <a:t>Support</a:t>
                      </a:r>
                      <a:endParaRPr sz="2000" b="1" dirty="0">
                        <a:solidFill>
                          <a:schemeClr val="accent1"/>
                        </a:solidFill>
                        <a:latin typeface="Bahnschrift Condensed" panose="020B0502040204020203" pitchFamily="34" charset="0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3427"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mo"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Of all the patients the model predicted as sick, how many were sick?</a:t>
                      </a:r>
                      <a:endParaRPr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mo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Bahnschrift Light Condensed" panose="020B0502040204020203" pitchFamily="34" charset="0"/>
                          <a:ea typeface="Arimo"/>
                          <a:cs typeface="Arimo"/>
                          <a:sym typeface="Arimo"/>
                        </a:rPr>
                        <a:t>Of all the patients who ARE sick, how many did the model detect?</a:t>
                      </a:r>
                      <a:endParaRPr dirty="0">
                        <a:solidFill>
                          <a:schemeClr val="dk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mo"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A single score that combines precision and recall</a:t>
                      </a:r>
                      <a:endParaRPr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mo"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Bahnschrift Light Condensed" panose="020B0502040204020203" pitchFamily="34" charset="0"/>
                        </a:rPr>
                        <a:t>How many actual patients belong to each class.</a:t>
                      </a:r>
                      <a:endParaRPr dirty="0">
                        <a:solidFill>
                          <a:schemeClr val="tx1"/>
                        </a:solidFill>
                        <a:latin typeface="Bahnschrift Light Condensed" panose="020B0502040204020203" pitchFamily="34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1169">
                <a:tc>
                  <a:txBody>
                    <a:bodyPr/>
                    <a:lstStyle/>
                    <a:p>
                      <a:pPr marL="230399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Mars is actually a very cold place</a:t>
                      </a:r>
                      <a:endParaRPr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30399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Venus has high temperatures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30399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Mercury is the smallest planet</a:t>
                      </a:r>
                      <a:endParaRPr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30399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Jupiter is the biggest planet</a:t>
                      </a:r>
                      <a:endParaRPr dirty="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B6A9F7A-3AB0-2857-665A-E93C914F0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28" y="3271293"/>
            <a:ext cx="3608344" cy="978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A4FDD1-3D42-9BD8-D491-E50E2B8C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828" y="3271293"/>
            <a:ext cx="3608344" cy="978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BA91AA-2FD8-4CA6-1133-A04188F4A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2" y="4498973"/>
            <a:ext cx="828302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gency FB" panose="020B0503020202020204" pitchFamily="34" charset="0"/>
              </a:rPr>
              <a:t>Fast but lower accuracy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Decision Tree          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gency FB" panose="020B0503020202020204" pitchFamily="34" charset="0"/>
              </a:rPr>
              <a:t>Balanced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Logistic Regression, SVM          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gency FB" panose="020B0503020202020204" pitchFamily="34" charset="0"/>
              </a:rPr>
              <a:t>Highest accuracy but more computational cost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KNN,,RF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gency FB" panose="020B0503020202020204" pitchFamily="34" charset="0"/>
              </a:rPr>
              <a:t>Conclusion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More complex models tend to perform better but require more computational resources.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3B38BD5-8189-7423-B29F-5F0276498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43" y="2423986"/>
            <a:ext cx="4023270" cy="250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EF6A3D8-6E5A-F749-981F-957DFEC37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029" y="312058"/>
            <a:ext cx="4717143" cy="297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73AAB46C-0BBE-6049-E7B4-BDCB803D3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0283" y="848738"/>
            <a:ext cx="322006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-KNN and Random Forest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achieved the highest accuracy (~86–88%).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-SVM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lang="en-US" altLang="en-US" sz="1400" b="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decent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(~78–80%).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-Logistic Regression </a:t>
            </a:r>
            <a:r>
              <a:rPr lang="en-US" altLang="en-US" sz="1400" b="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well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(~84%).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Light Condensed" panose="020B0502040204020203" pitchFamily="34" charset="0"/>
              </a:rPr>
              <a:t>-Decision Tree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performed the worst (~73%).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9DB8799-52E6-D18B-D330-174ACB1E5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315" y="3590473"/>
            <a:ext cx="383177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"/>
              <a:buNone/>
              <a:defRPr sz="3000" b="1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algn="ctr"/>
            <a:r>
              <a:rPr lang="en-US" sz="1400" b="0" dirty="0">
                <a:latin typeface="Bahnschrift Light Condensed" panose="020B0502040204020203" pitchFamily="34" charset="0"/>
              </a:rPr>
              <a:t>-</a:t>
            </a:r>
            <a:r>
              <a:rPr lang="en-US" sz="1400" b="0" dirty="0">
                <a:solidFill>
                  <a:schemeClr val="accent1"/>
                </a:solidFill>
                <a:latin typeface="Bahnschrift Light Condensed" panose="020B0502040204020203" pitchFamily="34" charset="0"/>
              </a:rPr>
              <a:t>KNN and Random Forest </a:t>
            </a:r>
            <a:r>
              <a:rPr lang="en-US" sz="1400" b="0" dirty="0">
                <a:latin typeface="Bahnschrift Light Condensed" panose="020B0502040204020203" pitchFamily="34" charset="0"/>
              </a:rPr>
              <a:t>make the fewest mistakes.</a:t>
            </a:r>
          </a:p>
          <a:p>
            <a:pPr algn="ctr"/>
            <a:r>
              <a:rPr lang="en-US" sz="1400" b="0" dirty="0">
                <a:latin typeface="Bahnschrift Light Condensed" panose="020B0502040204020203" pitchFamily="34" charset="0"/>
              </a:rPr>
              <a:t>-</a:t>
            </a:r>
            <a:r>
              <a:rPr lang="en-US" sz="1400" b="0" dirty="0">
                <a:solidFill>
                  <a:schemeClr val="accent1"/>
                </a:solidFill>
                <a:latin typeface="Bahnschrift Light Condensed" panose="020B0502040204020203" pitchFamily="34" charset="0"/>
              </a:rPr>
              <a:t>Decision Tree </a:t>
            </a:r>
            <a:r>
              <a:rPr lang="en-US" sz="1400" b="0" dirty="0">
                <a:latin typeface="Bahnschrift Light Condensed" panose="020B0502040204020203" pitchFamily="34" charset="0"/>
              </a:rPr>
              <a:t>has many false negatives (predicts healthy when patient is truly sick).</a:t>
            </a:r>
          </a:p>
          <a:p>
            <a:pPr algn="ctr"/>
            <a:r>
              <a:rPr lang="en-US" sz="1400" b="0" dirty="0">
                <a:latin typeface="Bahnschrift Light Condensed" panose="020B0502040204020203" pitchFamily="34" charset="0"/>
              </a:rPr>
              <a:t>-</a:t>
            </a:r>
            <a:r>
              <a:rPr lang="en-US" sz="1400" b="0" dirty="0">
                <a:solidFill>
                  <a:schemeClr val="accent1"/>
                </a:solidFill>
                <a:latin typeface="Bahnschrift Light Condensed" panose="020B0502040204020203" pitchFamily="34" charset="0"/>
              </a:rPr>
              <a:t>SVM and Logistic Regression </a:t>
            </a:r>
            <a:r>
              <a:rPr lang="en-US" sz="1400" b="0" dirty="0">
                <a:latin typeface="Bahnschrift Light Condensed" panose="020B0502040204020203" pitchFamily="34" charset="0"/>
              </a:rPr>
              <a:t>are balanced but less accurate than RF and KNN.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400" b="0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>
          <a:extLst>
            <a:ext uri="{FF2B5EF4-FFF2-40B4-BE49-F238E27FC236}">
              <a16:creationId xmlns:a16="http://schemas.microsoft.com/office/drawing/2014/main" id="{EB2818F5-3643-074F-AAC7-D3363428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523834A4-AFED-BF88-3665-180BFA2D3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30"/>
          <a:stretch>
            <a:fillRect/>
          </a:stretch>
        </p:blipFill>
        <p:spPr bwMode="auto">
          <a:xfrm>
            <a:off x="713225" y="1208225"/>
            <a:ext cx="3668250" cy="326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75666935-5F15-F180-8C30-E7C2309A1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3" r="-3" b="-3"/>
          <a:stretch>
            <a:fillRect/>
          </a:stretch>
        </p:blipFill>
        <p:spPr bwMode="auto">
          <a:xfrm>
            <a:off x="4762475" y="1208225"/>
            <a:ext cx="3668250" cy="326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CEE47D-FBC6-3EDE-3E46-3C77D3F8CEAD}"/>
              </a:ext>
            </a:extLst>
          </p:cNvPr>
          <p:cNvSpPr txBox="1"/>
          <p:nvPr/>
        </p:nvSpPr>
        <p:spPr>
          <a:xfrm>
            <a:off x="4572000" y="504715"/>
            <a:ext cx="40505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ROC curve : how good each model is at separating healthy vs sick patients, independent of threshold. Higher curve = better classifier.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17DEF-142C-11D5-13F9-C595A31E3481}"/>
              </a:ext>
            </a:extLst>
          </p:cNvPr>
          <p:cNvSpPr txBox="1"/>
          <p:nvPr/>
        </p:nvSpPr>
        <p:spPr>
          <a:xfrm>
            <a:off x="547099" y="504715"/>
            <a:ext cx="400050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This tells us which medical factors influence the prediction most </a:t>
            </a: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  <a:sym typeface="Wingdings" panose="05000000000000000000" pitchFamily="2" charset="2"/>
              </a:rPr>
              <a:t></a:t>
            </a:r>
            <a:r>
              <a:rPr lang="en-US" sz="13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interpret the model and connect results to medical meaning.</a:t>
            </a:r>
          </a:p>
        </p:txBody>
      </p:sp>
    </p:spTree>
    <p:extLst>
      <p:ext uri="{BB962C8B-B14F-4D97-AF65-F5344CB8AC3E}">
        <p14:creationId xmlns:p14="http://schemas.microsoft.com/office/powerpoint/2010/main" val="2038132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4"/>
          <p:cNvSpPr txBox="1">
            <a:spLocks noGrp="1"/>
          </p:cNvSpPr>
          <p:nvPr>
            <p:ph type="title"/>
          </p:nvPr>
        </p:nvSpPr>
        <p:spPr>
          <a:xfrm>
            <a:off x="503488" y="141204"/>
            <a:ext cx="326296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latin typeface="Bahnschrift SemiBold SemiConden" panose="020B0502040204020203" pitchFamily="34" charset="0"/>
              </a:rPr>
              <a:t>Discussion</a:t>
            </a:r>
            <a:r>
              <a:rPr lang="en" dirty="0"/>
              <a:t> </a:t>
            </a:r>
            <a:endParaRPr dirty="0"/>
          </a:p>
        </p:txBody>
      </p:sp>
      <p:sp>
        <p:nvSpPr>
          <p:cNvPr id="591" name="Google Shape;591;p54"/>
          <p:cNvSpPr/>
          <p:nvPr/>
        </p:nvSpPr>
        <p:spPr>
          <a:xfrm flipH="1">
            <a:off x="503488" y="2693204"/>
            <a:ext cx="1478456" cy="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Conclusion</a:t>
            </a:r>
            <a:endParaRPr sz="2000" b="1" dirty="0">
              <a:solidFill>
                <a:schemeClr val="accent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92" name="Google Shape;592;p54"/>
          <p:cNvSpPr txBox="1"/>
          <p:nvPr/>
        </p:nvSpPr>
        <p:spPr>
          <a:xfrm>
            <a:off x="2268167" y="1065298"/>
            <a:ext cx="1857829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accent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Key results</a:t>
            </a:r>
            <a:endParaRPr sz="1900" b="1" dirty="0">
              <a:solidFill>
                <a:schemeClr val="accent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93" name="Google Shape;593;p54"/>
          <p:cNvSpPr txBox="1"/>
          <p:nvPr/>
        </p:nvSpPr>
        <p:spPr>
          <a:xfrm>
            <a:off x="2371985" y="4450874"/>
            <a:ext cx="1634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accent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Challenges</a:t>
            </a:r>
            <a:endParaRPr sz="1900" b="1" dirty="0">
              <a:solidFill>
                <a:schemeClr val="accent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95" name="Google Shape;595;p54"/>
          <p:cNvSpPr txBox="1"/>
          <p:nvPr/>
        </p:nvSpPr>
        <p:spPr>
          <a:xfrm>
            <a:off x="2259368" y="3641174"/>
            <a:ext cx="1875425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Non-linear relationships in data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Some features had skewed distributions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Ensuring no overfitting</a:t>
            </a:r>
            <a:endParaRPr sz="1200" dirty="0">
              <a:solidFill>
                <a:schemeClr val="dk1"/>
              </a:solidFill>
              <a:latin typeface="Bahnschrift Light Condensed" panose="020B0502040204020203" pitchFamily="34" charset="0"/>
              <a:ea typeface="Arimo"/>
              <a:cs typeface="Arimo"/>
              <a:sym typeface="Arimo"/>
            </a:endParaRPr>
          </a:p>
        </p:txBody>
      </p:sp>
      <p:sp>
        <p:nvSpPr>
          <p:cNvPr id="596" name="Google Shape;596;p54"/>
          <p:cNvSpPr txBox="1"/>
          <p:nvPr/>
        </p:nvSpPr>
        <p:spPr>
          <a:xfrm>
            <a:off x="4354587" y="1078791"/>
            <a:ext cx="1847569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accent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What worked well?</a:t>
            </a:r>
            <a:endParaRPr sz="1900" b="1" dirty="0">
              <a:solidFill>
                <a:schemeClr val="accent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97" name="Google Shape;597;p54"/>
          <p:cNvSpPr txBox="1"/>
          <p:nvPr/>
        </p:nvSpPr>
        <p:spPr>
          <a:xfrm>
            <a:off x="4711075" y="4450874"/>
            <a:ext cx="1634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accent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How to improve?</a:t>
            </a:r>
            <a:endParaRPr sz="1900" b="1" dirty="0">
              <a:solidFill>
                <a:schemeClr val="accent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98" name="Google Shape;598;p54"/>
          <p:cNvSpPr txBox="1"/>
          <p:nvPr/>
        </p:nvSpPr>
        <p:spPr>
          <a:xfrm>
            <a:off x="4172141" y="1440351"/>
            <a:ext cx="2234407" cy="81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Random Forest &amp; SVM 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Cross-validation and tuning improved model performance.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EDA helped identify key patterns early.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Limitations : dataset size/reliability</a:t>
            </a:r>
          </a:p>
        </p:txBody>
      </p:sp>
      <p:sp>
        <p:nvSpPr>
          <p:cNvPr id="599" name="Google Shape;599;p54"/>
          <p:cNvSpPr txBox="1"/>
          <p:nvPr/>
        </p:nvSpPr>
        <p:spPr>
          <a:xfrm>
            <a:off x="4403032" y="3719010"/>
            <a:ext cx="2009457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Larger medical datasets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DL models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Bahnschrift Light Condensed" panose="020B0502040204020203" pitchFamily="34" charset="0"/>
                <a:ea typeface="Arimo"/>
                <a:cs typeface="Arimo"/>
                <a:sym typeface="Arimo"/>
              </a:rPr>
              <a:t>More clinical features (ECG, imaging, symptoms)</a:t>
            </a:r>
            <a:endParaRPr sz="1200" dirty="0">
              <a:solidFill>
                <a:schemeClr val="dk1"/>
              </a:solidFill>
              <a:latin typeface="Bahnschrift Light Condensed" panose="020B0502040204020203" pitchFamily="34" charset="0"/>
              <a:ea typeface="Arimo"/>
              <a:cs typeface="Arimo"/>
              <a:sym typeface="Arimo"/>
            </a:endParaRPr>
          </a:p>
        </p:txBody>
      </p:sp>
      <p:sp>
        <p:nvSpPr>
          <p:cNvPr id="600" name="Google Shape;600;p54"/>
          <p:cNvSpPr txBox="1"/>
          <p:nvPr/>
        </p:nvSpPr>
        <p:spPr>
          <a:xfrm>
            <a:off x="6660770" y="1025554"/>
            <a:ext cx="2126201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accent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Value of the project</a:t>
            </a:r>
            <a:endParaRPr sz="1900" b="1" dirty="0">
              <a:solidFill>
                <a:schemeClr val="accent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601" name="Google Shape;601;p54"/>
          <p:cNvSpPr txBox="1"/>
          <p:nvPr/>
        </p:nvSpPr>
        <p:spPr>
          <a:xfrm>
            <a:off x="7037103" y="4528710"/>
            <a:ext cx="1634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accent1"/>
                </a:solidFill>
                <a:latin typeface="Bahnschrift Condensed" panose="020B0502040204020203" pitchFamily="34" charset="0"/>
                <a:ea typeface="Be Vietnam Pro"/>
                <a:cs typeface="Be Vietnam Pro"/>
                <a:sym typeface="Be Vietnam Pro"/>
              </a:rPr>
              <a:t>Future work</a:t>
            </a:r>
            <a:endParaRPr sz="1900" b="1" dirty="0">
              <a:solidFill>
                <a:schemeClr val="accent1"/>
              </a:solidFill>
              <a:latin typeface="Bahnschrift Condensed" panose="020B0502040204020203" pitchFamily="34" charset="0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602" name="Google Shape;602;p54"/>
          <p:cNvSpPr txBox="1"/>
          <p:nvPr/>
        </p:nvSpPr>
        <p:spPr>
          <a:xfrm>
            <a:off x="6432179" y="1425114"/>
            <a:ext cx="2583385" cy="46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How ML help doctors detect heart disease early and accurately.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Reveal the most important medical features influencing prediction.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Demonstrates the practical value of data mining in real healthcare problems.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tx1"/>
              </a:solidFill>
              <a:latin typeface="Bahnschrift Light Condensed" panose="020B0502040204020203" pitchFamily="34" charset="0"/>
              <a:ea typeface="Arimo"/>
              <a:cs typeface="Arimo"/>
              <a:sym typeface="Arimo"/>
            </a:endParaRPr>
          </a:p>
        </p:txBody>
      </p:sp>
      <p:sp>
        <p:nvSpPr>
          <p:cNvPr id="603" name="Google Shape;603;p54"/>
          <p:cNvSpPr txBox="1"/>
          <p:nvPr/>
        </p:nvSpPr>
        <p:spPr>
          <a:xfrm>
            <a:off x="6406548" y="4054111"/>
            <a:ext cx="2895211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Real-time prediction systems</a:t>
            </a:r>
            <a:b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Smartwatch and wearable heart monitoring</a:t>
            </a:r>
            <a:b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Remote monitoring for high-risk patients</a:t>
            </a:r>
            <a:b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Personalized treatment recommendations</a:t>
            </a:r>
            <a:b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Faster triage in emergency rooms</a:t>
            </a:r>
          </a:p>
          <a:p>
            <a:pPr lvl="0" algn="ctr">
              <a:lnSpc>
                <a:spcPct val="115000"/>
              </a:lnSpc>
            </a:pPr>
            <a:endParaRPr sz="1200" dirty="0">
              <a:solidFill>
                <a:schemeClr val="tx1"/>
              </a:solidFill>
              <a:latin typeface="Bahnschrift Light Condensed" panose="020B0502040204020203" pitchFamily="34" charset="0"/>
              <a:ea typeface="Arimo"/>
              <a:cs typeface="Arimo"/>
              <a:sym typeface="Arimo"/>
            </a:endParaRPr>
          </a:p>
        </p:txBody>
      </p:sp>
      <p:cxnSp>
        <p:nvCxnSpPr>
          <p:cNvPr id="604" name="Google Shape;604;p54"/>
          <p:cNvCxnSpPr>
            <a:cxnSpLocks/>
            <a:stCxn id="591" idx="1"/>
          </p:cNvCxnSpPr>
          <p:nvPr/>
        </p:nvCxnSpPr>
        <p:spPr>
          <a:xfrm flipV="1">
            <a:off x="1981944" y="2560416"/>
            <a:ext cx="1215137" cy="473888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FB94C32-2C80-83FB-66ED-9973A8CD6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558" y="1539542"/>
            <a:ext cx="1446954" cy="125542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368599-D565-CBE1-AB40-3DEBC48EBD31}"/>
              </a:ext>
            </a:extLst>
          </p:cNvPr>
          <p:cNvCxnSpPr/>
          <p:nvPr/>
        </p:nvCxnSpPr>
        <p:spPr>
          <a:xfrm flipV="1">
            <a:off x="5298245" y="2693204"/>
            <a:ext cx="0" cy="341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96EA2-8740-255A-36B3-ACB5D3C251C9}"/>
              </a:ext>
            </a:extLst>
          </p:cNvPr>
          <p:cNvCxnSpPr/>
          <p:nvPr/>
        </p:nvCxnSpPr>
        <p:spPr>
          <a:xfrm flipV="1">
            <a:off x="3202097" y="3034304"/>
            <a:ext cx="0" cy="341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CA84CE8-E892-96D8-0474-98CA48009613}"/>
              </a:ext>
            </a:extLst>
          </p:cNvPr>
          <p:cNvCxnSpPr>
            <a:cxnSpLocks/>
          </p:cNvCxnSpPr>
          <p:nvPr/>
        </p:nvCxnSpPr>
        <p:spPr>
          <a:xfrm>
            <a:off x="3202097" y="3034304"/>
            <a:ext cx="46520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729D08-3E2F-F2DD-DA30-E4554578E43E}"/>
              </a:ext>
            </a:extLst>
          </p:cNvPr>
          <p:cNvCxnSpPr>
            <a:cxnSpLocks/>
          </p:cNvCxnSpPr>
          <p:nvPr/>
        </p:nvCxnSpPr>
        <p:spPr>
          <a:xfrm flipV="1">
            <a:off x="7854154" y="2693204"/>
            <a:ext cx="0" cy="768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0464EA3-CAED-105D-2B00-C1B2C31B307B}"/>
              </a:ext>
            </a:extLst>
          </p:cNvPr>
          <p:cNvCxnSpPr/>
          <p:nvPr/>
        </p:nvCxnSpPr>
        <p:spPr>
          <a:xfrm flipV="1">
            <a:off x="5301522" y="3031501"/>
            <a:ext cx="0" cy="341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1"/>
          <p:cNvSpPr txBox="1">
            <a:spLocks noGrp="1"/>
          </p:cNvSpPr>
          <p:nvPr>
            <p:ph type="title"/>
          </p:nvPr>
        </p:nvSpPr>
        <p:spPr>
          <a:xfrm>
            <a:off x="2050406" y="649620"/>
            <a:ext cx="4909193" cy="9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you </a:t>
            </a:r>
            <a:endParaRPr dirty="0"/>
          </a:p>
        </p:txBody>
      </p:sp>
      <p:sp>
        <p:nvSpPr>
          <p:cNvPr id="767" name="Google Shape;767;p61"/>
          <p:cNvSpPr txBox="1">
            <a:spLocks noGrp="1"/>
          </p:cNvSpPr>
          <p:nvPr>
            <p:ph type="subTitle" idx="1"/>
          </p:nvPr>
        </p:nvSpPr>
        <p:spPr>
          <a:xfrm>
            <a:off x="2347900" y="1813605"/>
            <a:ext cx="4448100" cy="11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</p:txBody>
      </p:sp>
      <p:sp>
        <p:nvSpPr>
          <p:cNvPr id="768" name="Google Shape;768;p61"/>
          <p:cNvSpPr txBox="1"/>
          <p:nvPr/>
        </p:nvSpPr>
        <p:spPr>
          <a:xfrm>
            <a:off x="2496150" y="4289476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Please keep this slide for attribution</a:t>
            </a:r>
            <a:endParaRPr sz="1200" b="1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ealthcare AI Workshop by Slidesgo">
  <a:themeElements>
    <a:clrScheme name="Simple Light">
      <a:dk1>
        <a:srgbClr val="FFFFFF"/>
      </a:dk1>
      <a:lt1>
        <a:srgbClr val="140036"/>
      </a:lt1>
      <a:dk2>
        <a:srgbClr val="3D41A8"/>
      </a:dk2>
      <a:lt2>
        <a:srgbClr val="4F57C2"/>
      </a:lt2>
      <a:accent1>
        <a:srgbClr val="57CDD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1195</Words>
  <Application>Microsoft Office PowerPoint</Application>
  <PresentationFormat>On-screen Show (16:9)</PresentationFormat>
  <Paragraphs>194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Bahnschrift Light Condensed</vt:lpstr>
      <vt:lpstr>Arial</vt:lpstr>
      <vt:lpstr>Agency FB</vt:lpstr>
      <vt:lpstr>Arimo</vt:lpstr>
      <vt:lpstr>Arial Narrow</vt:lpstr>
      <vt:lpstr>Bahnschrift Condensed</vt:lpstr>
      <vt:lpstr>Bahnschrift SemiBold Condensed</vt:lpstr>
      <vt:lpstr>Open Sans</vt:lpstr>
      <vt:lpstr>Be Vietnam Pro</vt:lpstr>
      <vt:lpstr>Bahnschrift SemiBold SemiConden</vt:lpstr>
      <vt:lpstr>Bahnschrift SemiBold</vt:lpstr>
      <vt:lpstr>Healthcare AI Workshop by Slidesgo</vt:lpstr>
      <vt:lpstr>Heart Disease Prediction</vt:lpstr>
      <vt:lpstr>Content of our Presentation</vt:lpstr>
      <vt:lpstr>Problem statement</vt:lpstr>
      <vt:lpstr>Background : Data Mining</vt:lpstr>
      <vt:lpstr>Background : Machine Learning</vt:lpstr>
      <vt:lpstr>Why Apply ML to Medical Data?</vt:lpstr>
      <vt:lpstr>ML Models used </vt:lpstr>
      <vt:lpstr>Can machine learning models accurately predict heart disease using patient clinical features?</vt:lpstr>
      <vt:lpstr>Objectives</vt:lpstr>
      <vt:lpstr>Tools and Libraries </vt:lpstr>
      <vt:lpstr>Knowing and Understanding our Data </vt:lpstr>
      <vt:lpstr>Features exploration</vt:lpstr>
      <vt:lpstr>Data Preprocessing </vt:lpstr>
      <vt:lpstr>Summary statictics</vt:lpstr>
      <vt:lpstr>Understanding our Data using statistical graphs (EDA)</vt:lpstr>
      <vt:lpstr>1- Chol, oldpeak, and trestbps have outliers. Oldpeak has extreme values (severe cases)  Reflect real medical diversity in patients and help models learn disease patterns 2- Target is strongly correlated with lower thalach, higher oldpeak, chest pain type, exercise-induced angina : clinical signs of poor cardiac function 3- Patients with disease (orange) : lower thalach, higher oldpeak, different chest pain patterns.</vt:lpstr>
      <vt:lpstr>Training and Testing Spliting </vt:lpstr>
      <vt:lpstr>Cross Validation </vt:lpstr>
      <vt:lpstr>Hyperparameter Tuning</vt:lpstr>
      <vt:lpstr>Process </vt:lpstr>
      <vt:lpstr>Output </vt:lpstr>
      <vt:lpstr>-KNN and Random Forest achieved the highest accuracy (~86–88%). -SVM decent (~78–80%). -Logistic Regression well (~84%). -Decision Tree performed the worst (~73%).</vt:lpstr>
      <vt:lpstr>PowerPoint Presentation</vt:lpstr>
      <vt:lpstr>Discussion </vt:lpstr>
      <vt:lpstr>Thanks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Yara Ghaddaf (Al)</cp:lastModifiedBy>
  <cp:revision>84</cp:revision>
  <dcterms:modified xsi:type="dcterms:W3CDTF">2025-11-23T20:34:08Z</dcterms:modified>
</cp:coreProperties>
</file>